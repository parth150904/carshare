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4D2247-5C36-4DEA-BC0C-64EA03593E18}" v="27" dt="2026-08-07T15:11:48.292"/>
    <p1510:client id="{EFF4DEE4-C7C9-4D8F-97D5-EA4256C8C331}" v="438" dt="2026-08-07T05:59:08.23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mbria"/>
                <a:cs typeface="Cambria"/>
              </a:defRPr>
            </a:lvl1p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10-09-2025</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mbria"/>
                <a:cs typeface="Cambria"/>
              </a:defRPr>
            </a:lvl1p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10-09-2025</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Cambria"/>
                <a:cs typeface="Cambria"/>
              </a:defRPr>
            </a:lvl1p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10-09-2025</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Cambria"/>
                <a:cs typeface="Cambria"/>
              </a:defRPr>
            </a:lvl1p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10-09-2025</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226037" y="0"/>
            <a:ext cx="1965962" cy="568994"/>
          </a:xfrm>
          <a:prstGeom prst="rect">
            <a:avLst/>
          </a:prstGeom>
        </p:spPr>
      </p:pic>
      <p:pic>
        <p:nvPicPr>
          <p:cNvPr id="17" name="bg object 17"/>
          <p:cNvPicPr/>
          <p:nvPr/>
        </p:nvPicPr>
        <p:blipFill>
          <a:blip r:embed="rId3" cstate="print"/>
          <a:stretch>
            <a:fillRect/>
          </a:stretch>
        </p:blipFill>
        <p:spPr>
          <a:xfrm>
            <a:off x="0" y="0"/>
            <a:ext cx="12185802" cy="5739324"/>
          </a:xfrm>
          <a:prstGeom prst="rect">
            <a:avLst/>
          </a:prstGeom>
        </p:spPr>
      </p:pic>
      <p:sp>
        <p:nvSpPr>
          <p:cNvPr id="18" name="bg object 18"/>
          <p:cNvSpPr/>
          <p:nvPr/>
        </p:nvSpPr>
        <p:spPr>
          <a:xfrm>
            <a:off x="0" y="3875476"/>
            <a:ext cx="12186285" cy="2982595"/>
          </a:xfrm>
          <a:custGeom>
            <a:avLst/>
            <a:gdLst/>
            <a:ahLst/>
            <a:cxnLst/>
            <a:rect l="l" t="t" r="r" b="b"/>
            <a:pathLst>
              <a:path w="12186285" h="2982595">
                <a:moveTo>
                  <a:pt x="0" y="2982599"/>
                </a:moveTo>
                <a:lnTo>
                  <a:pt x="0" y="0"/>
                </a:lnTo>
                <a:lnTo>
                  <a:pt x="12185699" y="0"/>
                </a:lnTo>
                <a:lnTo>
                  <a:pt x="12185699" y="2982523"/>
                </a:lnTo>
                <a:lnTo>
                  <a:pt x="0" y="2982599"/>
                </a:lnTo>
                <a:close/>
              </a:path>
            </a:pathLst>
          </a:custGeom>
          <a:solidFill>
            <a:srgbClr val="953734"/>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800" b="0" i="0">
                <a:solidFill>
                  <a:schemeClr val="tx1"/>
                </a:solidFill>
                <a:latin typeface="Cambria"/>
                <a:cs typeface="Cambria"/>
              </a:defRPr>
            </a:lvl1p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10-09-2025</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9535">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815721" y="0"/>
            <a:ext cx="2376273" cy="513799"/>
          </a:xfrm>
          <a:prstGeom prst="rect">
            <a:avLst/>
          </a:prstGeom>
        </p:spPr>
      </p:pic>
      <p:sp>
        <p:nvSpPr>
          <p:cNvPr id="2" name="Holder 2"/>
          <p:cNvSpPr>
            <a:spLocks noGrp="1"/>
          </p:cNvSpPr>
          <p:nvPr>
            <p:ph type="title"/>
          </p:nvPr>
        </p:nvSpPr>
        <p:spPr>
          <a:xfrm>
            <a:off x="2360501" y="475805"/>
            <a:ext cx="7462520" cy="695960"/>
          </a:xfrm>
          <a:prstGeom prst="rect">
            <a:avLst/>
          </a:prstGeom>
        </p:spPr>
        <p:txBody>
          <a:bodyPr wrap="square" lIns="0" tIns="0" rIns="0" bIns="0">
            <a:spAutoFit/>
          </a:bodyPr>
          <a:lstStyle>
            <a:lvl1pPr>
              <a:defRPr sz="4400" b="0" i="0">
                <a:solidFill>
                  <a:schemeClr val="tx1"/>
                </a:solidFill>
                <a:latin typeface="Cambria"/>
                <a:cs typeface="Cambria"/>
              </a:defRPr>
            </a:lvl1pPr>
          </a:lstStyle>
          <a:p>
            <a:endParaRPr/>
          </a:p>
        </p:txBody>
      </p:sp>
      <p:sp>
        <p:nvSpPr>
          <p:cNvPr id="3" name="Holder 3"/>
          <p:cNvSpPr>
            <a:spLocks noGrp="1"/>
          </p:cNvSpPr>
          <p:nvPr>
            <p:ph type="body" idx="1"/>
          </p:nvPr>
        </p:nvSpPr>
        <p:spPr>
          <a:xfrm>
            <a:off x="705687" y="1609345"/>
            <a:ext cx="10625455" cy="1976120"/>
          </a:xfrm>
          <a:prstGeom prst="rect">
            <a:avLst/>
          </a:prstGeom>
        </p:spPr>
        <p:txBody>
          <a:bodyPr wrap="square" lIns="0" tIns="0" rIns="0" bIns="0">
            <a:spAutoFit/>
          </a:bodyPr>
          <a:lstStyle>
            <a:lvl1pPr>
              <a:defRPr sz="3200" b="0" i="0">
                <a:solidFill>
                  <a:schemeClr val="tx1"/>
                </a:solidFill>
                <a:latin typeface="Cambria"/>
                <a:cs typeface="Cambria"/>
              </a:defRPr>
            </a:lvl1pPr>
          </a:lstStyle>
          <a:p>
            <a:endParaRPr/>
          </a:p>
        </p:txBody>
      </p:sp>
      <p:sp>
        <p:nvSpPr>
          <p:cNvPr id="4" name="Holder 4"/>
          <p:cNvSpPr>
            <a:spLocks noGrp="1"/>
          </p:cNvSpPr>
          <p:nvPr>
            <p:ph type="ftr" sz="quarter" idx="5"/>
          </p:nvPr>
        </p:nvSpPr>
        <p:spPr>
          <a:xfrm>
            <a:off x="4055188" y="6278489"/>
            <a:ext cx="4890770" cy="534905"/>
          </a:xfrm>
          <a:prstGeom prst="rect">
            <a:avLst/>
          </a:prstGeom>
        </p:spPr>
        <p:txBody>
          <a:bodyPr wrap="square" lIns="0" tIns="0" rIns="0" bIns="0">
            <a:spAutoFit/>
          </a:bodyPr>
          <a:lstStyle>
            <a:lvl1pPr>
              <a:defRPr sz="1800" b="0" i="0">
                <a:solidFill>
                  <a:schemeClr val="tx1"/>
                </a:solidFill>
                <a:latin typeface="Cambria"/>
                <a:cs typeface="Cambria"/>
              </a:defRPr>
            </a:lvl1p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5" name="Holder 5"/>
          <p:cNvSpPr>
            <a:spLocks noGrp="1"/>
          </p:cNvSpPr>
          <p:nvPr>
            <p:ph type="dt" sz="half" idx="6"/>
          </p:nvPr>
        </p:nvSpPr>
        <p:spPr>
          <a:xfrm>
            <a:off x="682625" y="6466765"/>
            <a:ext cx="73596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20" dirty="0"/>
              <a:t>10-09-2025</a:t>
            </a:r>
          </a:p>
        </p:txBody>
      </p:sp>
      <p:sp>
        <p:nvSpPr>
          <p:cNvPr id="6" name="Holder 6"/>
          <p:cNvSpPr>
            <a:spLocks noGrp="1"/>
          </p:cNvSpPr>
          <p:nvPr>
            <p:ph type="sldNum" sz="quarter" idx="7"/>
          </p:nvPr>
        </p:nvSpPr>
        <p:spPr>
          <a:xfrm>
            <a:off x="11329591" y="6466765"/>
            <a:ext cx="218211"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89535">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mysql.com/doc" TargetMode="External"/><Relationship Id="rId2" Type="http://schemas.openxmlformats.org/officeDocument/2006/relationships/hyperlink" Target="https://www.php.net/" TargetMode="External"/><Relationship Id="rId1" Type="http://schemas.openxmlformats.org/officeDocument/2006/relationships/slideLayout" Target="../slideLayouts/slideLayout2.xml"/><Relationship Id="rId5" Type="http://schemas.openxmlformats.org/officeDocument/2006/relationships/hyperlink" Target="https://ai.google.dev/" TargetMode="External"/><Relationship Id="rId4" Type="http://schemas.openxmlformats.org/officeDocument/2006/relationships/hyperlink" Target="https://developers.google.com/ma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88527" y="919830"/>
            <a:ext cx="8897831" cy="2044149"/>
          </a:xfrm>
          <a:prstGeom prst="rect">
            <a:avLst/>
          </a:prstGeom>
        </p:spPr>
        <p:txBody>
          <a:bodyPr vert="horz" wrap="square" lIns="0" tIns="12700" rIns="0" bIns="0" rtlCol="0" anchor="t">
            <a:spAutoFit/>
          </a:bodyPr>
          <a:lstStyle/>
          <a:p>
            <a:pPr algn="ctr">
              <a:spcBef>
                <a:spcPts val="100"/>
              </a:spcBef>
            </a:pPr>
            <a:r>
              <a:rPr lang="en-US" sz="4400" b="1">
                <a:solidFill>
                  <a:srgbClr val="632423"/>
                </a:solidFill>
                <a:latin typeface="Times New Roman"/>
                <a:cs typeface="Times New Roman"/>
              </a:rPr>
              <a:t>Major Project</a:t>
            </a:r>
          </a:p>
          <a:p>
            <a:pPr algn="ctr">
              <a:lnSpc>
                <a:spcPct val="100000"/>
              </a:lnSpc>
            </a:pPr>
            <a:r>
              <a:rPr lang="en-US" sz="4400" b="1">
                <a:solidFill>
                  <a:srgbClr val="632423"/>
                </a:solidFill>
                <a:latin typeface="Times New Roman"/>
                <a:cs typeface="Times New Roman"/>
              </a:rPr>
              <a:t>1010103494</a:t>
            </a:r>
            <a:endParaRPr sz="4400" b="1">
              <a:solidFill>
                <a:srgbClr val="632423"/>
              </a:solidFill>
              <a:latin typeface="Times New Roman"/>
              <a:cs typeface="Times New Roman"/>
            </a:endParaRPr>
          </a:p>
          <a:p>
            <a:pPr marL="2540" algn="ctr"/>
            <a:r>
              <a:rPr lang="en-US" sz="4400" spc="-10">
                <a:solidFill>
                  <a:srgbClr val="632423"/>
                </a:solidFill>
              </a:rPr>
              <a:t>AI Ride Sharing Platform</a:t>
            </a:r>
            <a:endParaRPr lang="en-US" sz="4400"/>
          </a:p>
        </p:txBody>
      </p:sp>
      <p:pic>
        <p:nvPicPr>
          <p:cNvPr id="3" name="object 3"/>
          <p:cNvPicPr/>
          <p:nvPr/>
        </p:nvPicPr>
        <p:blipFill>
          <a:blip r:embed="rId2" cstate="print"/>
          <a:stretch>
            <a:fillRect/>
          </a:stretch>
        </p:blipFill>
        <p:spPr>
          <a:xfrm>
            <a:off x="8898992" y="0"/>
            <a:ext cx="3292997" cy="711999"/>
          </a:xfrm>
          <a:prstGeom prst="rect">
            <a:avLst/>
          </a:prstGeom>
        </p:spPr>
      </p:pic>
      <p:graphicFrame>
        <p:nvGraphicFramePr>
          <p:cNvPr id="4" name="object 4"/>
          <p:cNvGraphicFramePr>
            <a:graphicFrameLocks noGrp="1"/>
          </p:cNvGraphicFramePr>
          <p:nvPr>
            <p:extLst>
              <p:ext uri="{D42A27DB-BD31-4B8C-83A1-F6EECF244321}">
                <p14:modId xmlns:p14="http://schemas.microsoft.com/office/powerpoint/2010/main" val="2569736232"/>
              </p:ext>
            </p:extLst>
          </p:nvPr>
        </p:nvGraphicFramePr>
        <p:xfrm>
          <a:off x="1032049" y="4046691"/>
          <a:ext cx="10019030" cy="2663825"/>
        </p:xfrm>
        <a:graphic>
          <a:graphicData uri="http://schemas.openxmlformats.org/drawingml/2006/table">
            <a:tbl>
              <a:tblPr firstRow="1" bandRow="1">
                <a:tableStyleId>{2D5ABB26-0587-4C30-8999-92F81FD0307C}</a:tableStyleId>
              </a:tblPr>
              <a:tblGrid>
                <a:gridCol w="4070350">
                  <a:extLst>
                    <a:ext uri="{9D8B030D-6E8A-4147-A177-3AD203B41FA5}">
                      <a16:colId xmlns:a16="http://schemas.microsoft.com/office/drawing/2014/main" val="20000"/>
                    </a:ext>
                  </a:extLst>
                </a:gridCol>
                <a:gridCol w="5948680">
                  <a:extLst>
                    <a:ext uri="{9D8B030D-6E8A-4147-A177-3AD203B41FA5}">
                      <a16:colId xmlns:a16="http://schemas.microsoft.com/office/drawing/2014/main" val="20001"/>
                    </a:ext>
                  </a:extLst>
                </a:gridCol>
              </a:tblGrid>
              <a:tr h="532765">
                <a:tc>
                  <a:txBody>
                    <a:bodyPr/>
                    <a:lstStyle/>
                    <a:p>
                      <a:pPr marL="85725">
                        <a:lnSpc>
                          <a:spcPct val="100000"/>
                        </a:lnSpc>
                        <a:spcBef>
                          <a:spcPts val="580"/>
                        </a:spcBef>
                      </a:pPr>
                      <a:r>
                        <a:rPr sz="2300" b="1" spc="-10" dirty="0">
                          <a:solidFill>
                            <a:srgbClr val="FFFFFF"/>
                          </a:solidFill>
                          <a:latin typeface="Cambria"/>
                          <a:cs typeface="Cambria"/>
                        </a:rPr>
                        <a:t>Project</a:t>
                      </a:r>
                      <a:r>
                        <a:rPr sz="2300" b="1" spc="-75" dirty="0">
                          <a:solidFill>
                            <a:srgbClr val="FFFFFF"/>
                          </a:solidFill>
                          <a:latin typeface="Cambria"/>
                          <a:cs typeface="Cambria"/>
                        </a:rPr>
                        <a:t> </a:t>
                      </a:r>
                      <a:r>
                        <a:rPr sz="2300" b="1" spc="-25" dirty="0">
                          <a:solidFill>
                            <a:srgbClr val="FFFFFF"/>
                          </a:solidFill>
                          <a:latin typeface="Cambria"/>
                          <a:cs typeface="Cambria"/>
                        </a:rPr>
                        <a:t>ID</a:t>
                      </a:r>
                      <a:endParaRPr sz="2300">
                        <a:latin typeface="Cambria"/>
                        <a:cs typeface="Cambria"/>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endParaRPr sz="3400">
                        <a:latin typeface="Times New Roman"/>
                        <a:cs typeface="Times New Roman"/>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0"/>
                  </a:ext>
                </a:extLst>
              </a:tr>
              <a:tr h="532765">
                <a:tc>
                  <a:txBody>
                    <a:bodyPr/>
                    <a:lstStyle/>
                    <a:p>
                      <a:pPr marL="85725">
                        <a:lnSpc>
                          <a:spcPct val="100000"/>
                        </a:lnSpc>
                        <a:spcBef>
                          <a:spcPts val="580"/>
                        </a:spcBef>
                      </a:pPr>
                      <a:r>
                        <a:rPr sz="2300" b="1" spc="-10" dirty="0">
                          <a:solidFill>
                            <a:srgbClr val="FFFFFF"/>
                          </a:solidFill>
                          <a:latin typeface="Cambria"/>
                          <a:cs typeface="Cambria"/>
                        </a:rPr>
                        <a:t>Enrollment</a:t>
                      </a:r>
                      <a:r>
                        <a:rPr sz="2300" b="1" spc="-65" dirty="0">
                          <a:solidFill>
                            <a:srgbClr val="FFFFFF"/>
                          </a:solidFill>
                          <a:latin typeface="Cambria"/>
                          <a:cs typeface="Cambria"/>
                        </a:rPr>
                        <a:t> </a:t>
                      </a:r>
                      <a:r>
                        <a:rPr sz="2300" b="1" spc="-35" dirty="0">
                          <a:solidFill>
                            <a:srgbClr val="FFFFFF"/>
                          </a:solidFill>
                          <a:latin typeface="Cambria"/>
                          <a:cs typeface="Cambria"/>
                        </a:rPr>
                        <a:t>No</a:t>
                      </a:r>
                      <a:endParaRPr sz="2300">
                        <a:latin typeface="Cambria"/>
                        <a:cs typeface="Cambria"/>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lvl="0" algn="just">
                        <a:lnSpc>
                          <a:spcPct val="100000"/>
                        </a:lnSpc>
                      </a:pPr>
                      <a:r>
                        <a:rPr lang="en-US" sz="2800">
                          <a:solidFill>
                            <a:schemeClr val="bg1"/>
                          </a:solidFill>
                          <a:latin typeface="Times New Roman"/>
                          <a:cs typeface="Times New Roman"/>
                        </a:rPr>
                        <a:t>  2401030430004, 2401030430012</a:t>
                      </a:r>
                      <a:endParaRPr sz="2800">
                        <a:solidFill>
                          <a:schemeClr val="bg1"/>
                        </a:solidFill>
                        <a:latin typeface="Times New Roman"/>
                        <a:cs typeface="Times New Roman"/>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1"/>
                  </a:ext>
                </a:extLst>
              </a:tr>
              <a:tr h="532765">
                <a:tc>
                  <a:txBody>
                    <a:bodyPr/>
                    <a:lstStyle/>
                    <a:p>
                      <a:pPr marL="85725">
                        <a:lnSpc>
                          <a:spcPct val="100000"/>
                        </a:lnSpc>
                        <a:spcBef>
                          <a:spcPts val="580"/>
                        </a:spcBef>
                      </a:pPr>
                      <a:r>
                        <a:rPr sz="2300" b="1" spc="-20" dirty="0">
                          <a:solidFill>
                            <a:srgbClr val="FFFFFF"/>
                          </a:solidFill>
                          <a:latin typeface="Cambria"/>
                          <a:cs typeface="Cambria"/>
                        </a:rPr>
                        <a:t>Name</a:t>
                      </a:r>
                      <a:endParaRPr sz="2300">
                        <a:latin typeface="Cambria"/>
                        <a:cs typeface="Cambria"/>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r>
                        <a:rPr lang="en-US" sz="3400">
                          <a:solidFill>
                            <a:schemeClr val="bg1"/>
                          </a:solidFill>
                          <a:latin typeface="Times New Roman"/>
                          <a:cs typeface="Times New Roman"/>
                        </a:rPr>
                        <a:t>  Patel Parth R. , Patel Parv</a:t>
                      </a:r>
                      <a:endParaRPr sz="3400">
                        <a:solidFill>
                          <a:schemeClr val="bg1"/>
                        </a:solidFill>
                        <a:latin typeface="Times New Roman"/>
                        <a:cs typeface="Times New Roman"/>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2"/>
                  </a:ext>
                </a:extLst>
              </a:tr>
              <a:tr h="532765">
                <a:tc>
                  <a:txBody>
                    <a:bodyPr/>
                    <a:lstStyle/>
                    <a:p>
                      <a:pPr marL="85725">
                        <a:lnSpc>
                          <a:spcPct val="100000"/>
                        </a:lnSpc>
                        <a:spcBef>
                          <a:spcPts val="580"/>
                        </a:spcBef>
                      </a:pPr>
                      <a:r>
                        <a:rPr sz="2300" b="1" spc="-10" dirty="0">
                          <a:solidFill>
                            <a:srgbClr val="FFFFFF"/>
                          </a:solidFill>
                          <a:latin typeface="Cambria"/>
                          <a:cs typeface="Cambria"/>
                        </a:rPr>
                        <a:t>Branch</a:t>
                      </a:r>
                      <a:endParaRPr sz="2300">
                        <a:latin typeface="Cambria"/>
                        <a:cs typeface="Cambria"/>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r>
                        <a:rPr lang="en-US" sz="3400" dirty="0">
                          <a:solidFill>
                            <a:schemeClr val="bg1"/>
                          </a:solidFill>
                          <a:latin typeface="Times New Roman"/>
                          <a:cs typeface="Times New Roman"/>
                        </a:rPr>
                        <a:t>  </a:t>
                      </a:r>
                      <a:r>
                        <a:rPr lang="en-US" sz="3400" dirty="0" err="1">
                          <a:solidFill>
                            <a:schemeClr val="bg1"/>
                          </a:solidFill>
                          <a:latin typeface="Times New Roman"/>
                          <a:cs typeface="Times New Roman"/>
                        </a:rPr>
                        <a:t>B.Tech</a:t>
                      </a:r>
                      <a:r>
                        <a:rPr lang="en-US" sz="3400" dirty="0">
                          <a:solidFill>
                            <a:schemeClr val="bg1"/>
                          </a:solidFill>
                          <a:latin typeface="Times New Roman"/>
                          <a:cs typeface="Times New Roman"/>
                        </a:rPr>
                        <a:t> (CE)</a:t>
                      </a:r>
                      <a:endParaRPr sz="3400" dirty="0">
                        <a:solidFill>
                          <a:schemeClr val="bg1"/>
                        </a:solidFill>
                        <a:latin typeface="Times New Roman"/>
                        <a:cs typeface="Times New Roman"/>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3"/>
                  </a:ext>
                </a:extLst>
              </a:tr>
              <a:tr h="532765">
                <a:tc>
                  <a:txBody>
                    <a:bodyPr/>
                    <a:lstStyle/>
                    <a:p>
                      <a:pPr marL="85725">
                        <a:lnSpc>
                          <a:spcPct val="100000"/>
                        </a:lnSpc>
                        <a:spcBef>
                          <a:spcPts val="580"/>
                        </a:spcBef>
                      </a:pPr>
                      <a:r>
                        <a:rPr sz="2300" b="1" dirty="0">
                          <a:solidFill>
                            <a:srgbClr val="FFFFFF"/>
                          </a:solidFill>
                          <a:latin typeface="Cambria"/>
                          <a:cs typeface="Cambria"/>
                        </a:rPr>
                        <a:t>Guide</a:t>
                      </a:r>
                      <a:r>
                        <a:rPr sz="2300" b="1" spc="-90" dirty="0">
                          <a:solidFill>
                            <a:srgbClr val="FFFFFF"/>
                          </a:solidFill>
                          <a:latin typeface="Cambria"/>
                          <a:cs typeface="Cambria"/>
                        </a:rPr>
                        <a:t> </a:t>
                      </a:r>
                      <a:r>
                        <a:rPr sz="2300" b="1" spc="-20" dirty="0">
                          <a:solidFill>
                            <a:srgbClr val="FFFFFF"/>
                          </a:solidFill>
                          <a:latin typeface="Cambria"/>
                          <a:cs typeface="Cambria"/>
                        </a:rPr>
                        <a:t>Name</a:t>
                      </a:r>
                      <a:endParaRPr sz="2300">
                        <a:latin typeface="Cambria"/>
                        <a:cs typeface="Cambria"/>
                      </a:endParaRPr>
                    </a:p>
                  </a:txBody>
                  <a:tcPr marL="0" marR="0" marT="736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tc>
                  <a:txBody>
                    <a:bodyPr/>
                    <a:lstStyle/>
                    <a:p>
                      <a:pPr>
                        <a:lnSpc>
                          <a:spcPct val="100000"/>
                        </a:lnSpc>
                      </a:pPr>
                      <a:endParaRPr sz="3400">
                        <a:latin typeface="Times New Roman"/>
                        <a:cs typeface="Times New Roman"/>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95373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413842" y="475805"/>
            <a:ext cx="1363345" cy="695960"/>
          </a:xfrm>
          <a:prstGeom prst="rect">
            <a:avLst/>
          </a:prstGeom>
        </p:spPr>
        <p:txBody>
          <a:bodyPr vert="horz" wrap="square" lIns="0" tIns="12700" rIns="0" bIns="0" rtlCol="0">
            <a:spAutoFit/>
          </a:bodyPr>
          <a:lstStyle/>
          <a:p>
            <a:pPr marL="12700">
              <a:lnSpc>
                <a:spcPct val="100000"/>
              </a:lnSpc>
              <a:spcBef>
                <a:spcPts val="100"/>
              </a:spcBef>
            </a:pPr>
            <a:r>
              <a:rPr spc="-10" dirty="0"/>
              <a:t>Index</a:t>
            </a:r>
          </a:p>
        </p:txBody>
      </p:sp>
      <p:sp>
        <p:nvSpPr>
          <p:cNvPr id="3" name="object 3"/>
          <p:cNvSpPr txBox="1"/>
          <p:nvPr/>
        </p:nvSpPr>
        <p:spPr>
          <a:xfrm>
            <a:off x="705687" y="1537818"/>
            <a:ext cx="5753735" cy="4187190"/>
          </a:xfrm>
          <a:prstGeom prst="rect">
            <a:avLst/>
          </a:prstGeom>
        </p:spPr>
        <p:txBody>
          <a:bodyPr vert="horz" wrap="square" lIns="0" tIns="45085" rIns="0" bIns="0" rtlCol="0">
            <a:spAutoFit/>
          </a:bodyPr>
          <a:lstStyle/>
          <a:p>
            <a:pPr marL="330835" indent="-318135">
              <a:lnSpc>
                <a:spcPct val="100000"/>
              </a:lnSpc>
              <a:spcBef>
                <a:spcPts val="355"/>
              </a:spcBef>
              <a:buChar char="•"/>
              <a:tabLst>
                <a:tab pos="330835" algn="l"/>
              </a:tabLst>
            </a:pPr>
            <a:r>
              <a:rPr sz="3200" spc="-10" dirty="0">
                <a:latin typeface="Cambria"/>
                <a:cs typeface="Cambria"/>
              </a:rPr>
              <a:t>Introduction</a:t>
            </a:r>
            <a:endParaRPr sz="3200">
              <a:latin typeface="Cambria"/>
              <a:cs typeface="Cambria"/>
            </a:endParaRPr>
          </a:p>
          <a:p>
            <a:pPr marL="330835" indent="-318135">
              <a:lnSpc>
                <a:spcPct val="100000"/>
              </a:lnSpc>
              <a:spcBef>
                <a:spcPts val="254"/>
              </a:spcBef>
              <a:buChar char="•"/>
              <a:tabLst>
                <a:tab pos="330835" algn="l"/>
              </a:tabLst>
            </a:pPr>
            <a:r>
              <a:rPr sz="3200" spc="-10" dirty="0">
                <a:latin typeface="Cambria"/>
                <a:cs typeface="Cambria"/>
              </a:rPr>
              <a:t>Background</a:t>
            </a:r>
            <a:r>
              <a:rPr sz="3200" spc="-90" dirty="0">
                <a:latin typeface="Cambria"/>
                <a:cs typeface="Cambria"/>
              </a:rPr>
              <a:t> </a:t>
            </a:r>
            <a:r>
              <a:rPr sz="3200" dirty="0">
                <a:latin typeface="Cambria"/>
                <a:cs typeface="Cambria"/>
              </a:rPr>
              <a:t>and</a:t>
            </a:r>
            <a:r>
              <a:rPr sz="3200" spc="-90" dirty="0">
                <a:latin typeface="Cambria"/>
                <a:cs typeface="Cambria"/>
              </a:rPr>
              <a:t> </a:t>
            </a:r>
            <a:r>
              <a:rPr sz="3200" spc="-10" dirty="0">
                <a:latin typeface="Cambria"/>
                <a:cs typeface="Cambria"/>
              </a:rPr>
              <a:t>Motivation</a:t>
            </a:r>
            <a:endParaRPr sz="3200">
              <a:latin typeface="Cambria"/>
              <a:cs typeface="Cambria"/>
            </a:endParaRPr>
          </a:p>
          <a:p>
            <a:pPr marL="330835" indent="-318135">
              <a:lnSpc>
                <a:spcPct val="100000"/>
              </a:lnSpc>
              <a:spcBef>
                <a:spcPts val="254"/>
              </a:spcBef>
              <a:buChar char="•"/>
              <a:tabLst>
                <a:tab pos="330835" algn="l"/>
              </a:tabLst>
            </a:pPr>
            <a:r>
              <a:rPr sz="3200" spc="-20" dirty="0">
                <a:latin typeface="Cambria"/>
                <a:cs typeface="Cambria"/>
              </a:rPr>
              <a:t>Relevance</a:t>
            </a:r>
            <a:r>
              <a:rPr sz="3200" spc="-95" dirty="0">
                <a:latin typeface="Cambria"/>
                <a:cs typeface="Cambria"/>
              </a:rPr>
              <a:t> </a:t>
            </a:r>
            <a:r>
              <a:rPr sz="3200" dirty="0">
                <a:latin typeface="Cambria"/>
                <a:cs typeface="Cambria"/>
              </a:rPr>
              <a:t>and</a:t>
            </a:r>
            <a:r>
              <a:rPr sz="3200" spc="-95" dirty="0">
                <a:latin typeface="Cambria"/>
                <a:cs typeface="Cambria"/>
              </a:rPr>
              <a:t> </a:t>
            </a:r>
            <a:r>
              <a:rPr sz="3200" spc="-10" dirty="0">
                <a:latin typeface="Cambria"/>
                <a:cs typeface="Cambria"/>
              </a:rPr>
              <a:t>Importance</a:t>
            </a:r>
            <a:endParaRPr sz="3200">
              <a:latin typeface="Cambria"/>
              <a:cs typeface="Cambria"/>
            </a:endParaRPr>
          </a:p>
          <a:p>
            <a:pPr marL="330835" indent="-318135">
              <a:lnSpc>
                <a:spcPct val="100000"/>
              </a:lnSpc>
              <a:spcBef>
                <a:spcPts val="254"/>
              </a:spcBef>
              <a:buChar char="•"/>
              <a:tabLst>
                <a:tab pos="330835" algn="l"/>
              </a:tabLst>
            </a:pPr>
            <a:r>
              <a:rPr sz="3200" spc="-20" dirty="0">
                <a:latin typeface="Cambria"/>
                <a:cs typeface="Cambria"/>
              </a:rPr>
              <a:t>Literature</a:t>
            </a:r>
            <a:r>
              <a:rPr sz="3200" spc="-80" dirty="0">
                <a:latin typeface="Cambria"/>
                <a:cs typeface="Cambria"/>
              </a:rPr>
              <a:t> </a:t>
            </a:r>
            <a:r>
              <a:rPr sz="3200" spc="-10" dirty="0">
                <a:latin typeface="Cambria"/>
                <a:cs typeface="Cambria"/>
              </a:rPr>
              <a:t>review</a:t>
            </a:r>
            <a:endParaRPr sz="3200">
              <a:latin typeface="Cambria"/>
              <a:cs typeface="Cambria"/>
            </a:endParaRPr>
          </a:p>
          <a:p>
            <a:pPr marL="330835" indent="-318135">
              <a:lnSpc>
                <a:spcPct val="100000"/>
              </a:lnSpc>
              <a:spcBef>
                <a:spcPts val="259"/>
              </a:spcBef>
              <a:buChar char="•"/>
              <a:tabLst>
                <a:tab pos="330835" algn="l"/>
              </a:tabLst>
            </a:pPr>
            <a:r>
              <a:rPr sz="3200" spc="-10" dirty="0">
                <a:latin typeface="Cambria"/>
                <a:cs typeface="Cambria"/>
              </a:rPr>
              <a:t>Objectives</a:t>
            </a:r>
            <a:endParaRPr sz="3200">
              <a:latin typeface="Cambria"/>
              <a:cs typeface="Cambria"/>
            </a:endParaRPr>
          </a:p>
          <a:p>
            <a:pPr marL="330835" indent="-318135">
              <a:lnSpc>
                <a:spcPct val="100000"/>
              </a:lnSpc>
              <a:spcBef>
                <a:spcPts val="254"/>
              </a:spcBef>
              <a:buChar char="•"/>
              <a:tabLst>
                <a:tab pos="330835" algn="l"/>
              </a:tabLst>
            </a:pPr>
            <a:r>
              <a:rPr sz="3200" dirty="0">
                <a:latin typeface="Cambria"/>
                <a:cs typeface="Cambria"/>
              </a:rPr>
              <a:t>Required</a:t>
            </a:r>
            <a:r>
              <a:rPr sz="3200" spc="-110" dirty="0">
                <a:latin typeface="Cambria"/>
                <a:cs typeface="Cambria"/>
              </a:rPr>
              <a:t> </a:t>
            </a:r>
            <a:r>
              <a:rPr sz="3200" spc="-55" dirty="0">
                <a:latin typeface="Cambria"/>
                <a:cs typeface="Cambria"/>
              </a:rPr>
              <a:t>Tools</a:t>
            </a:r>
            <a:r>
              <a:rPr sz="3200" spc="-110" dirty="0">
                <a:latin typeface="Cambria"/>
                <a:cs typeface="Cambria"/>
              </a:rPr>
              <a:t> </a:t>
            </a:r>
            <a:r>
              <a:rPr sz="3200" dirty="0">
                <a:latin typeface="Cambria"/>
                <a:cs typeface="Cambria"/>
              </a:rPr>
              <a:t>and</a:t>
            </a:r>
            <a:r>
              <a:rPr sz="3200" spc="-110" dirty="0">
                <a:latin typeface="Cambria"/>
                <a:cs typeface="Cambria"/>
              </a:rPr>
              <a:t> </a:t>
            </a:r>
            <a:r>
              <a:rPr sz="3200" spc="-10" dirty="0">
                <a:latin typeface="Cambria"/>
                <a:cs typeface="Cambria"/>
              </a:rPr>
              <a:t>Technology</a:t>
            </a:r>
            <a:endParaRPr sz="3200">
              <a:latin typeface="Cambria"/>
              <a:cs typeface="Cambria"/>
            </a:endParaRPr>
          </a:p>
          <a:p>
            <a:pPr marL="330835" indent="-318135">
              <a:lnSpc>
                <a:spcPct val="100000"/>
              </a:lnSpc>
              <a:spcBef>
                <a:spcPts val="254"/>
              </a:spcBef>
              <a:buChar char="•"/>
              <a:tabLst>
                <a:tab pos="330835" algn="l"/>
              </a:tabLst>
            </a:pPr>
            <a:r>
              <a:rPr sz="3200" dirty="0">
                <a:latin typeface="Cambria"/>
                <a:cs typeface="Cambria"/>
              </a:rPr>
              <a:t>Method/</a:t>
            </a:r>
            <a:r>
              <a:rPr sz="3200" spc="-160" dirty="0">
                <a:latin typeface="Cambria"/>
                <a:cs typeface="Cambria"/>
              </a:rPr>
              <a:t> </a:t>
            </a:r>
            <a:r>
              <a:rPr sz="3200" spc="-10" dirty="0">
                <a:latin typeface="Cambria"/>
                <a:cs typeface="Cambria"/>
              </a:rPr>
              <a:t>Approach</a:t>
            </a:r>
            <a:endParaRPr sz="3200">
              <a:latin typeface="Cambria"/>
              <a:cs typeface="Cambria"/>
            </a:endParaRPr>
          </a:p>
          <a:p>
            <a:pPr marL="330835" indent="-318135">
              <a:lnSpc>
                <a:spcPct val="100000"/>
              </a:lnSpc>
              <a:spcBef>
                <a:spcPts val="254"/>
              </a:spcBef>
              <a:buChar char="•"/>
              <a:tabLst>
                <a:tab pos="330835" algn="l"/>
              </a:tabLst>
            </a:pPr>
            <a:r>
              <a:rPr sz="3200" spc="-10" dirty="0">
                <a:latin typeface="Cambria"/>
                <a:cs typeface="Cambria"/>
              </a:rPr>
              <a:t>Bibliography</a:t>
            </a:r>
            <a:endParaRPr sz="3200">
              <a:latin typeface="Cambria"/>
              <a:cs typeface="Cambria"/>
            </a:endParaRPr>
          </a:p>
        </p:txBody>
      </p:sp>
      <p:sp>
        <p:nvSpPr>
          <p:cNvPr id="4" name="object 4"/>
          <p:cNvSpPr txBox="1"/>
          <p:nvPr/>
        </p:nvSpPr>
        <p:spPr>
          <a:xfrm>
            <a:off x="682625" y="6428677"/>
            <a:ext cx="73596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888888"/>
                </a:solidFill>
                <a:latin typeface="Calibri"/>
                <a:cs typeface="Calibri"/>
              </a:rPr>
              <a:t>10-09-2025</a:t>
            </a:r>
            <a:endParaRPr sz="1200">
              <a:latin typeface="Calibri"/>
              <a:cs typeface="Calibri"/>
            </a:endParaRPr>
          </a:p>
        </p:txBody>
      </p:sp>
      <p:sp>
        <p:nvSpPr>
          <p:cNvPr id="5" name="object 5"/>
          <p:cNvSpPr txBox="1"/>
          <p:nvPr/>
        </p:nvSpPr>
        <p:spPr>
          <a:xfrm>
            <a:off x="11406733" y="6428677"/>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2</a:t>
            </a:r>
            <a:endParaRPr sz="1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225675">
              <a:lnSpc>
                <a:spcPct val="100000"/>
              </a:lnSpc>
              <a:spcBef>
                <a:spcPts val="100"/>
              </a:spcBef>
            </a:pPr>
            <a:r>
              <a:rPr spc="-10" dirty="0"/>
              <a:t>Introduction</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nSpc>
                <a:spcPts val="1240"/>
              </a:lnSpc>
            </a:pPr>
            <a:fld id="{81D60167-4931-47E6-BA6A-407CBD079E47}" type="slidenum">
              <a:rPr spc="-50" dirty="0"/>
              <a:t>3</a:t>
            </a:fld>
            <a:endParaRPr spc="-50" dirty="0"/>
          </a:p>
        </p:txBody>
      </p:sp>
      <p:sp>
        <p:nvSpPr>
          <p:cNvPr id="3" name="object 3"/>
          <p:cNvSpPr txBox="1"/>
          <p:nvPr/>
        </p:nvSpPr>
        <p:spPr>
          <a:xfrm>
            <a:off x="676379" y="1550730"/>
            <a:ext cx="10834614" cy="1995418"/>
          </a:xfrm>
          <a:prstGeom prst="rect">
            <a:avLst/>
          </a:prstGeom>
        </p:spPr>
        <p:txBody>
          <a:bodyPr vert="horz" wrap="square" lIns="0" tIns="12700" rIns="0" bIns="0" rtlCol="0" anchor="t">
            <a:spAutoFit/>
          </a:bodyPr>
          <a:lstStyle/>
          <a:p>
            <a:pPr marL="330835" indent="-318135" algn="just">
              <a:spcBef>
                <a:spcPts val="100"/>
              </a:spcBef>
              <a:buChar char="•"/>
              <a:tabLst>
                <a:tab pos="330835" algn="l"/>
              </a:tabLst>
            </a:pPr>
            <a:r>
              <a:rPr lang="en-US" sz="1600" spc="-10"/>
              <a:t>The </a:t>
            </a:r>
            <a:r>
              <a:rPr lang="en-US" sz="1600" b="1" spc="-10"/>
              <a:t>AI Ride Sharing Platform</a:t>
            </a:r>
            <a:r>
              <a:rPr lang="en-US" sz="1600" spc="-10"/>
              <a:t> is a web-based application designed to connect drivers and passengers who are traveling in the same or similar directions. The platform leverages Artificial Intelligence (AI) to improve the overall ride-sharing experience by providing intelligent ride matching, route optimization, fare estimation, and an AI-powered chatbot for user assistance. Unlike traditional ride-sharing systems that rely mainly on manual searches, this platform analyzes multiple factors such as user preferences, travel routes, seat availability, traffic conditions, and driver ratings to recommend the most suitable rides. This intelligent approach helps users find reliable and convenient transportation while making better use of available vehicle seats.</a:t>
            </a:r>
            <a:endParaRPr lang="en-US" sz="1600" spc="-10">
              <a:solidFill>
                <a:srgbClr val="000000"/>
              </a:solidFill>
            </a:endParaRPr>
          </a:p>
          <a:p>
            <a:pPr marL="330835" indent="-318135" algn="just">
              <a:spcBef>
                <a:spcPts val="100"/>
              </a:spcBef>
              <a:buChar char="•"/>
              <a:tabLst>
                <a:tab pos="330835" algn="l"/>
              </a:tabLst>
            </a:pPr>
            <a:endParaRPr sz="1600" spc="-10" dirty="0"/>
          </a:p>
        </p:txBody>
      </p:sp>
      <p:sp>
        <p:nvSpPr>
          <p:cNvPr id="7" name="object 3">
            <a:extLst>
              <a:ext uri="{FF2B5EF4-FFF2-40B4-BE49-F238E27FC236}">
                <a16:creationId xmlns:a16="http://schemas.microsoft.com/office/drawing/2014/main" id="{D8927368-9097-C258-B42C-AB8FC363E20C}"/>
              </a:ext>
            </a:extLst>
          </p:cNvPr>
          <p:cNvSpPr txBox="1"/>
          <p:nvPr/>
        </p:nvSpPr>
        <p:spPr>
          <a:xfrm>
            <a:off x="705686" y="3787883"/>
            <a:ext cx="10834614" cy="1736373"/>
          </a:xfrm>
          <a:prstGeom prst="rect">
            <a:avLst/>
          </a:prstGeom>
        </p:spPr>
        <p:txBody>
          <a:bodyPr vert="horz" wrap="square" lIns="0" tIns="12700" rIns="0" bIns="0" rtlCol="0" anchor="t">
            <a:spAutoFit/>
          </a:bodyPr>
          <a:lstStyle/>
          <a:p>
            <a:pPr marL="330835" indent="-318135" algn="just">
              <a:spcBef>
                <a:spcPts val="100"/>
              </a:spcBef>
              <a:buChar char="•"/>
              <a:tabLst>
                <a:tab pos="330835" algn="l"/>
              </a:tabLst>
            </a:pPr>
            <a:r>
              <a:rPr lang="en-US" sz="1600" spc="-10"/>
              <a:t>With the increasing demand for smart and sustainable transportation, the AI Ride Sharing Platform aims to reduce travel costs, save commuting time, and minimize traffic congestion by encouraging people to share rides. The platform also contributes to environmental sustainability by reducing fuel consumption and lowering carbon emissions through fewer vehicles on the road. In addition, features such as secure user authentication, real-time ride management, AI-based fare estimation, route optimization using map services, and an AI chatbot for instant support provide a seamless and user-friendly experience for both drivers and passengers. By integrating modern web technologies with Artificial Intelligence, this project offers an efficient, secure, and intelligent solution for the future of ride sharing.</a:t>
            </a:r>
            <a:endParaRPr 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436880">
              <a:lnSpc>
                <a:spcPct val="100000"/>
              </a:lnSpc>
              <a:spcBef>
                <a:spcPts val="100"/>
              </a:spcBef>
            </a:pPr>
            <a:r>
              <a:rPr spc="-10" dirty="0"/>
              <a:t>Background</a:t>
            </a:r>
            <a:r>
              <a:rPr spc="-95" dirty="0"/>
              <a:t> </a:t>
            </a:r>
            <a:r>
              <a:rPr dirty="0"/>
              <a:t>and</a:t>
            </a:r>
            <a:r>
              <a:rPr spc="-95" dirty="0"/>
              <a:t> </a:t>
            </a:r>
            <a:r>
              <a:rPr spc="-10" dirty="0"/>
              <a:t>Motivation</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810"/>
              </a:lnSpc>
            </a:pPr>
            <a:r>
              <a:rPr spc="-20" dirty="0">
                <a:latin typeface="Calibri"/>
                <a:cs typeface="Calibri"/>
              </a:rPr>
              <a:t>DEPARTMENT</a:t>
            </a:r>
            <a:r>
              <a:rPr spc="-3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COMPUTER</a:t>
            </a:r>
            <a:r>
              <a:rPr spc="-25" dirty="0">
                <a:latin typeface="Calibri"/>
                <a:cs typeface="Calibri"/>
              </a:rPr>
              <a:t> </a:t>
            </a:r>
            <a:r>
              <a:rPr spc="-10" dirty="0">
                <a:latin typeface="Calibri"/>
                <a:cs typeface="Calibri"/>
              </a:rPr>
              <a:t>ENGINEERING</a:t>
            </a:r>
          </a:p>
          <a:p>
            <a:pPr algn="ctr">
              <a:lnSpc>
                <a:spcPct val="100000"/>
              </a:lnSpc>
            </a:pPr>
            <a:r>
              <a:rPr spc="-10" dirty="0">
                <a:latin typeface="Calibri"/>
                <a:cs typeface="Calibri"/>
              </a:rPr>
              <a:t>*Proprietary</a:t>
            </a:r>
            <a:r>
              <a:rPr spc="-45" dirty="0">
                <a:latin typeface="Calibri"/>
                <a:cs typeface="Calibri"/>
              </a:rPr>
              <a:t> </a:t>
            </a:r>
            <a:r>
              <a:rPr dirty="0">
                <a:latin typeface="Calibri"/>
                <a:cs typeface="Calibri"/>
              </a:rPr>
              <a:t>material</a:t>
            </a:r>
            <a:r>
              <a:rPr spc="-45" dirty="0">
                <a:latin typeface="Calibri"/>
                <a:cs typeface="Calibri"/>
              </a:rPr>
              <a:t> </a:t>
            </a:r>
            <a:r>
              <a:rPr dirty="0">
                <a:latin typeface="Calibri"/>
                <a:cs typeface="Calibri"/>
              </a:rPr>
              <a:t>of</a:t>
            </a:r>
            <a:r>
              <a:rPr spc="-45" dirty="0">
                <a:latin typeface="Calibri"/>
                <a:cs typeface="Calibri"/>
              </a:rPr>
              <a:t> </a:t>
            </a:r>
            <a:r>
              <a:rPr spc="-20" dirty="0">
                <a:latin typeface="Calibri"/>
                <a:cs typeface="Calibri"/>
              </a:rPr>
              <a:t>SILVER</a:t>
            </a:r>
            <a:r>
              <a:rPr spc="-45" dirty="0">
                <a:latin typeface="Calibri"/>
                <a:cs typeface="Calibri"/>
              </a:rPr>
              <a:t> </a:t>
            </a:r>
            <a:r>
              <a:rPr dirty="0">
                <a:latin typeface="Calibri"/>
                <a:cs typeface="Calibri"/>
              </a:rPr>
              <a:t>OAK</a:t>
            </a:r>
            <a:r>
              <a:rPr spc="-45" dirty="0">
                <a:latin typeface="Calibri"/>
                <a:cs typeface="Calibri"/>
              </a:rPr>
              <a:t> </a:t>
            </a:r>
            <a:r>
              <a:rPr spc="-10" dirty="0">
                <a:latin typeface="Calibri"/>
                <a:cs typeface="Calibri"/>
              </a:rPr>
              <a:t>UNIVERSITY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nSpc>
                <a:spcPts val="1240"/>
              </a:lnSpc>
            </a:pPr>
            <a:fld id="{81D60167-4931-47E6-BA6A-407CBD079E47}" type="slidenum">
              <a:rPr spc="-50" dirty="0"/>
              <a:t>4</a:t>
            </a:fld>
            <a:endParaRPr spc="-50" dirty="0"/>
          </a:p>
        </p:txBody>
      </p:sp>
      <p:sp>
        <p:nvSpPr>
          <p:cNvPr id="3" name="object 3"/>
          <p:cNvSpPr txBox="1"/>
          <p:nvPr/>
        </p:nvSpPr>
        <p:spPr>
          <a:xfrm>
            <a:off x="705687" y="1609345"/>
            <a:ext cx="9530080" cy="1982594"/>
          </a:xfrm>
          <a:prstGeom prst="rect">
            <a:avLst/>
          </a:prstGeom>
        </p:spPr>
        <p:txBody>
          <a:bodyPr vert="horz" wrap="square" lIns="0" tIns="12700" rIns="0" bIns="0" rtlCol="0" anchor="t">
            <a:spAutoFit/>
          </a:bodyPr>
          <a:lstStyle/>
          <a:p>
            <a:pPr marL="330835" indent="-318135" algn="just">
              <a:spcBef>
                <a:spcPts val="100"/>
              </a:spcBef>
              <a:buChar char="•"/>
              <a:tabLst>
                <a:tab pos="330835" algn="l"/>
              </a:tabLst>
            </a:pPr>
            <a:r>
              <a:rPr lang="en-US" sz="1600" spc="-10"/>
              <a:t>With the rapid growth of urban populations and the increasing number of private vehicles, transportation has become more expensive, time-consuming, and environmentally challenging. Many people commute alone despite having empty seats in their vehicles, while others face difficulties finding affordable and reliable transportation. Although existing ride-sharing platforms allow users to book rides, they primarily rely on manual searches and basic matching techniques. These systems often do not consider factors such as route similarity, travel preferences, traffic conditions, driver ratings, or personalized recommendations, which can result in inefficient ride matching and a less satisfactory user experience.</a:t>
            </a:r>
            <a:endParaRPr sz="1600">
              <a:latin typeface="Cambria"/>
              <a:cs typeface="Cambria"/>
            </a:endParaRPr>
          </a:p>
        </p:txBody>
      </p:sp>
      <p:sp>
        <p:nvSpPr>
          <p:cNvPr id="7" name="object 3">
            <a:extLst>
              <a:ext uri="{FF2B5EF4-FFF2-40B4-BE49-F238E27FC236}">
                <a16:creationId xmlns:a16="http://schemas.microsoft.com/office/drawing/2014/main" id="{BCB70483-93AA-A834-B5C7-353A4C18A2B5}"/>
              </a:ext>
            </a:extLst>
          </p:cNvPr>
          <p:cNvSpPr txBox="1"/>
          <p:nvPr/>
        </p:nvSpPr>
        <p:spPr>
          <a:xfrm>
            <a:off x="705686" y="3768345"/>
            <a:ext cx="9530080" cy="1982594"/>
          </a:xfrm>
          <a:prstGeom prst="rect">
            <a:avLst/>
          </a:prstGeom>
        </p:spPr>
        <p:txBody>
          <a:bodyPr vert="horz" wrap="square" lIns="0" tIns="12700" rIns="0" bIns="0" rtlCol="0" anchor="t">
            <a:spAutoFit/>
          </a:bodyPr>
          <a:lstStyle/>
          <a:p>
            <a:pPr marL="330835" indent="-318135" algn="just">
              <a:spcBef>
                <a:spcPts val="100"/>
              </a:spcBef>
              <a:buChar char="•"/>
              <a:tabLst>
                <a:tab pos="330835" algn="l"/>
              </a:tabLst>
            </a:pPr>
            <a:r>
              <a:rPr lang="en-US" sz="1600" spc="-10"/>
              <a:t>The motivation behind the </a:t>
            </a:r>
            <a:r>
              <a:rPr lang="en-US" sz="1600" b="1" spc="-10"/>
              <a:t>AI Ride Sharing Platform</a:t>
            </a:r>
            <a:r>
              <a:rPr lang="en-US" sz="1600" spc="-10"/>
              <a:t> is to address these limitations by integrating Artificial Intelligence into the ride-sharing process. AI can analyze multiple factors, including user preferences, travel routes, seat availability, traffic patterns, and historical ride data, to recommend the most suitable rides. The platform also provides AI-based route optimization, fare estimation, and an intelligent chatbot to assist users with bookings and general queries. By making ride sharing smarter and more efficient, the system aims to reduce travel costs, save time, decrease traffic congestion, lower carbon emissions, and encourage sustainable transportation while providing a secure and user-friendly experience for both drivers and passengers.</a:t>
            </a:r>
            <a:endParaRPr lang="en-US" sz="1600" spc="-1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575945">
              <a:lnSpc>
                <a:spcPct val="100000"/>
              </a:lnSpc>
              <a:spcBef>
                <a:spcPts val="100"/>
              </a:spcBef>
            </a:pPr>
            <a:r>
              <a:rPr spc="-20" dirty="0"/>
              <a:t>Relevance</a:t>
            </a:r>
            <a:r>
              <a:rPr spc="-90" dirty="0"/>
              <a:t> </a:t>
            </a:r>
            <a:r>
              <a:rPr dirty="0"/>
              <a:t>and</a:t>
            </a:r>
            <a:r>
              <a:rPr spc="-85" dirty="0"/>
              <a:t> </a:t>
            </a:r>
            <a:r>
              <a:rPr spc="-10" dirty="0"/>
              <a:t>Importance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860"/>
              </a:lnSpc>
            </a:pPr>
            <a:r>
              <a:rPr spc="-25" dirty="0"/>
              <a:t>DEPARTMENT</a:t>
            </a:r>
            <a:r>
              <a:rPr spc="-20" dirty="0"/>
              <a:t> </a:t>
            </a:r>
            <a:r>
              <a:rPr dirty="0"/>
              <a:t>OF</a:t>
            </a:r>
            <a:r>
              <a:rPr spc="-20" dirty="0"/>
              <a:t> </a:t>
            </a:r>
            <a:r>
              <a:rPr dirty="0"/>
              <a:t>COMPUTER</a:t>
            </a:r>
            <a:r>
              <a:rPr spc="-20" dirty="0"/>
              <a:t> </a:t>
            </a:r>
            <a:r>
              <a:rPr spc="-10" dirty="0"/>
              <a:t>ENGINEERING</a:t>
            </a:r>
          </a:p>
          <a:p>
            <a:pPr algn="ctr">
              <a:lnSpc>
                <a:spcPct val="100000"/>
              </a:lnSpc>
            </a:pPr>
            <a:r>
              <a:rPr spc="-10" dirty="0"/>
              <a:t>*Proprietary</a:t>
            </a:r>
            <a:r>
              <a:rPr spc="-60" dirty="0"/>
              <a:t> </a:t>
            </a:r>
            <a:r>
              <a:rPr dirty="0"/>
              <a:t>material</a:t>
            </a:r>
            <a:r>
              <a:rPr spc="-55" dirty="0"/>
              <a:t> </a:t>
            </a:r>
            <a:r>
              <a:rPr dirty="0"/>
              <a:t>of</a:t>
            </a:r>
            <a:r>
              <a:rPr spc="-60" dirty="0"/>
              <a:t> </a:t>
            </a:r>
            <a:r>
              <a:rPr spc="-25" dirty="0"/>
              <a:t>SILVER</a:t>
            </a:r>
            <a:r>
              <a:rPr spc="-55" dirty="0"/>
              <a:t> </a:t>
            </a:r>
            <a:r>
              <a:rPr dirty="0"/>
              <a:t>OAK</a:t>
            </a:r>
            <a:r>
              <a:rPr spc="-60" dirty="0"/>
              <a:t> </a:t>
            </a:r>
            <a:r>
              <a:rPr spc="-10" dirty="0"/>
              <a:t>UNIVERSITY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nSpc>
                <a:spcPts val="1240"/>
              </a:lnSpc>
            </a:pPr>
            <a:fld id="{81D60167-4931-47E6-BA6A-407CBD079E47}" type="slidenum">
              <a:rPr spc="-50" dirty="0"/>
              <a:t>5</a:t>
            </a:fld>
            <a:endParaRPr spc="-50" dirty="0"/>
          </a:p>
        </p:txBody>
      </p:sp>
      <p:sp>
        <p:nvSpPr>
          <p:cNvPr id="3" name="object 3"/>
          <p:cNvSpPr txBox="1"/>
          <p:nvPr/>
        </p:nvSpPr>
        <p:spPr>
          <a:xfrm>
            <a:off x="705687" y="1609345"/>
            <a:ext cx="10255250" cy="1982594"/>
          </a:xfrm>
          <a:prstGeom prst="rect">
            <a:avLst/>
          </a:prstGeom>
        </p:spPr>
        <p:txBody>
          <a:bodyPr vert="horz" wrap="square" lIns="0" tIns="12700" rIns="0" bIns="0" rtlCol="0" anchor="t">
            <a:spAutoFit/>
          </a:bodyPr>
          <a:lstStyle/>
          <a:p>
            <a:pPr marL="330200" marR="5080" indent="-318135" algn="just">
              <a:spcBef>
                <a:spcPts val="100"/>
              </a:spcBef>
              <a:buChar char="•"/>
              <a:tabLst>
                <a:tab pos="332105" algn="l"/>
              </a:tabLst>
            </a:pPr>
            <a:r>
              <a:rPr lang="en-US" sz="1600" spc="-10"/>
              <a:t>The </a:t>
            </a:r>
            <a:r>
              <a:rPr lang="en-US" sz="1600" b="1" spc="-10"/>
              <a:t>AI Ride Sharing Platform</a:t>
            </a:r>
            <a:r>
              <a:rPr lang="en-US" sz="1600" spc="-10"/>
              <a:t> is highly relevant in today's world, where rapid urbanization and the increasing number of private vehicles have created significant challenges such as traffic congestion, high transportation costs, fuel wastage, and environmental pollution. Traditional ride-sharing systems provide a convenient way to travel, but they often lack intelligent features that can improve efficiency and user satisfaction. By integrating Artificial Intelligence with modern web technologies, this platform provides smart ride recommendations, optimized travel routes, accurate fare estimation, and personalized assistance through an AI chatbot. These intelligent features help users make better travel decisions while enhancing the overall reliability and convenience of the ride-sharing experience.</a:t>
            </a:r>
            <a:endParaRPr lang="en-US" sz="1600"/>
          </a:p>
        </p:txBody>
      </p:sp>
      <p:sp>
        <p:nvSpPr>
          <p:cNvPr id="7" name="object 3">
            <a:extLst>
              <a:ext uri="{FF2B5EF4-FFF2-40B4-BE49-F238E27FC236}">
                <a16:creationId xmlns:a16="http://schemas.microsoft.com/office/drawing/2014/main" id="{B9F5B2CD-72D4-A520-E217-7D2636DE73EF}"/>
              </a:ext>
            </a:extLst>
          </p:cNvPr>
          <p:cNvSpPr txBox="1"/>
          <p:nvPr/>
        </p:nvSpPr>
        <p:spPr>
          <a:xfrm>
            <a:off x="705686" y="3842428"/>
            <a:ext cx="10255250" cy="1982594"/>
          </a:xfrm>
          <a:prstGeom prst="rect">
            <a:avLst/>
          </a:prstGeom>
        </p:spPr>
        <p:txBody>
          <a:bodyPr vert="horz" wrap="square" lIns="0" tIns="12700" rIns="0" bIns="0" rtlCol="0" anchor="t">
            <a:spAutoFit/>
          </a:bodyPr>
          <a:lstStyle/>
          <a:p>
            <a:pPr marL="330200" marR="5080" indent="-318135" algn="just">
              <a:spcBef>
                <a:spcPts val="100"/>
              </a:spcBef>
              <a:buChar char="•"/>
              <a:tabLst>
                <a:tab pos="332105" algn="l"/>
              </a:tabLst>
            </a:pPr>
            <a:r>
              <a:rPr lang="en-US" sz="1600" spc="-10"/>
              <a:t>The importance of this project extends beyond providing transportation services, as it also supports sustainable and smart mobility solutions. By encouraging people traveling in similar directions to share rides, the platform promotes efficient use of vehicle capacity, reduces the number of vehicles on the road, and lowers fuel consumption and carbon emissions. It also offers economic benefits by reducing travel expenses for passengers and allowing drivers to share fuel costs. Furthermore, the project demonstrates the practical application of Artificial Intelligence in solving real-world transportation problems, making it valuable for educational, research, and commercial purposes. Overall, the AI Ride Sharing Platform contributes to creating a safer, more efficient, cost-effective, and environmentally responsible transportation system.</a:t>
            </a:r>
            <a:endParaRPr 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601470">
              <a:lnSpc>
                <a:spcPct val="100000"/>
              </a:lnSpc>
              <a:spcBef>
                <a:spcPts val="100"/>
              </a:spcBef>
            </a:pPr>
            <a:r>
              <a:rPr spc="-25" dirty="0"/>
              <a:t>Literature</a:t>
            </a:r>
            <a:r>
              <a:rPr spc="-165" dirty="0"/>
              <a:t> </a:t>
            </a:r>
            <a:r>
              <a:rPr spc="-10" dirty="0"/>
              <a:t>Review</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860"/>
              </a:lnSpc>
            </a:pPr>
            <a:r>
              <a:rPr spc="-25" dirty="0"/>
              <a:t>DEPARTMENT</a:t>
            </a:r>
            <a:r>
              <a:rPr spc="-20" dirty="0"/>
              <a:t> </a:t>
            </a:r>
            <a:r>
              <a:rPr dirty="0"/>
              <a:t>OF</a:t>
            </a:r>
            <a:r>
              <a:rPr spc="-20" dirty="0"/>
              <a:t> </a:t>
            </a:r>
            <a:r>
              <a:rPr dirty="0"/>
              <a:t>COMPUTER</a:t>
            </a:r>
            <a:r>
              <a:rPr spc="-20" dirty="0"/>
              <a:t> </a:t>
            </a:r>
            <a:r>
              <a:rPr spc="-10" dirty="0"/>
              <a:t>ENGINEERING</a:t>
            </a:r>
          </a:p>
          <a:p>
            <a:pPr algn="ctr">
              <a:lnSpc>
                <a:spcPct val="100000"/>
              </a:lnSpc>
            </a:pPr>
            <a:r>
              <a:rPr spc="-10" dirty="0"/>
              <a:t>*Proprietary</a:t>
            </a:r>
            <a:r>
              <a:rPr spc="-60" dirty="0"/>
              <a:t> </a:t>
            </a:r>
            <a:r>
              <a:rPr dirty="0"/>
              <a:t>material</a:t>
            </a:r>
            <a:r>
              <a:rPr spc="-55" dirty="0"/>
              <a:t> </a:t>
            </a:r>
            <a:r>
              <a:rPr dirty="0"/>
              <a:t>of</a:t>
            </a:r>
            <a:r>
              <a:rPr spc="-60" dirty="0"/>
              <a:t> </a:t>
            </a:r>
            <a:r>
              <a:rPr spc="-25" dirty="0"/>
              <a:t>SILVER</a:t>
            </a:r>
            <a:r>
              <a:rPr spc="-55" dirty="0"/>
              <a:t> </a:t>
            </a:r>
            <a:r>
              <a:rPr dirty="0"/>
              <a:t>OAK</a:t>
            </a:r>
            <a:r>
              <a:rPr spc="-60" dirty="0"/>
              <a:t> </a:t>
            </a:r>
            <a:r>
              <a:rPr spc="-10" dirty="0"/>
              <a:t>UNIVERSITY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nSpc>
                <a:spcPts val="1240"/>
              </a:lnSpc>
            </a:pPr>
            <a:fld id="{81D60167-4931-47E6-BA6A-407CBD079E47}" type="slidenum">
              <a:rPr spc="-50" dirty="0"/>
              <a:t>6</a:t>
            </a:fld>
            <a:endParaRPr spc="-50" dirty="0"/>
          </a:p>
        </p:txBody>
      </p:sp>
      <p:sp>
        <p:nvSpPr>
          <p:cNvPr id="3" name="object 3"/>
          <p:cNvSpPr txBox="1">
            <a:spLocks noGrp="1"/>
          </p:cNvSpPr>
          <p:nvPr>
            <p:ph type="body" idx="1"/>
          </p:nvPr>
        </p:nvSpPr>
        <p:spPr>
          <a:xfrm>
            <a:off x="705687" y="1609345"/>
            <a:ext cx="10625455" cy="1982594"/>
          </a:xfrm>
          <a:prstGeom prst="rect">
            <a:avLst/>
          </a:prstGeom>
        </p:spPr>
        <p:txBody>
          <a:bodyPr vert="horz" wrap="square" lIns="0" tIns="12700" rIns="0" bIns="0" rtlCol="0" anchor="t">
            <a:spAutoFit/>
          </a:bodyPr>
          <a:lstStyle/>
          <a:p>
            <a:pPr marL="330200" marR="5080" indent="-318135" algn="just">
              <a:spcBef>
                <a:spcPts val="100"/>
              </a:spcBef>
              <a:buFont typeface="Arial"/>
              <a:buChar char="•"/>
              <a:tabLst>
                <a:tab pos="332105" algn="l"/>
              </a:tabLst>
            </a:pPr>
            <a:r>
              <a:rPr lang="en-US" sz="1600" spc="-10" dirty="0"/>
              <a:t>Ride-sharing platforms have significantly changed the way people travel by providing convenient, affordable, and flexible transportation services. Popular applications such as Uber, Lyft, and </a:t>
            </a:r>
            <a:r>
              <a:rPr lang="en-US" sz="1600" spc="-10" dirty="0" err="1"/>
              <a:t>BlaBlaCar</a:t>
            </a:r>
            <a:r>
              <a:rPr lang="en-US" sz="1600" spc="-10" dirty="0"/>
              <a:t> have demonstrated the effectiveness of connecting drivers and passengers through digital platforms. These systems include features such as online ride booking, GPS-based navigation, fare calculation, and user ratings to improve safety and service quality. However, many existing platforms primarily focus on matching rides based on basic search criteria and often provide limited personalization. As a result, users may not always receive the most suitable ride recommendations, especially when factors such as travel preferences, route similarity, traffic conditions, and historical ride behavior are not considered.</a:t>
            </a:r>
            <a:endParaRPr lang="en-US" sz="1600" dirty="0">
              <a:ea typeface="Cambria"/>
            </a:endParaRPr>
          </a:p>
        </p:txBody>
      </p:sp>
      <p:sp>
        <p:nvSpPr>
          <p:cNvPr id="8" name="object 3">
            <a:extLst>
              <a:ext uri="{FF2B5EF4-FFF2-40B4-BE49-F238E27FC236}">
                <a16:creationId xmlns:a16="http://schemas.microsoft.com/office/drawing/2014/main" id="{3977687C-8129-A637-76AD-0685FABC334A}"/>
              </a:ext>
            </a:extLst>
          </p:cNvPr>
          <p:cNvSpPr txBox="1">
            <a:spLocks/>
          </p:cNvSpPr>
          <p:nvPr/>
        </p:nvSpPr>
        <p:spPr>
          <a:xfrm>
            <a:off x="701779" y="3754668"/>
            <a:ext cx="10625455" cy="2228815"/>
          </a:xfrm>
          <a:prstGeom prst="rect">
            <a:avLst/>
          </a:prstGeom>
        </p:spPr>
        <p:txBody>
          <a:bodyPr vert="horz" wrap="square" lIns="0" tIns="12700" rIns="0" bIns="0" rtlCol="0" anchor="t">
            <a:spAutoFit/>
          </a:bodyPr>
          <a:lstStyle>
            <a:lvl1pPr marL="0">
              <a:defRPr sz="3200" b="0" i="0">
                <a:solidFill>
                  <a:schemeClr val="tx1"/>
                </a:solidFill>
                <a:latin typeface="Cambria"/>
                <a:ea typeface="+mn-ea"/>
                <a:cs typeface="Cambri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30200" marR="5080" indent="-318135" algn="just">
              <a:spcBef>
                <a:spcPts val="100"/>
              </a:spcBef>
              <a:buFont typeface="Arial"/>
              <a:buChar char="•"/>
              <a:tabLst>
                <a:tab pos="332105" algn="l"/>
              </a:tabLst>
            </a:pPr>
            <a:r>
              <a:rPr lang="en-US" sz="1600" spc="-10"/>
              <a:t>Recent research in Artificial Intelligence has shown that machine learning and data-driven techniques can significantly improve the efficiency and accuracy of ride-sharing systems. AI algorithms can analyze travel patterns, user preferences, traffic conditions, ride history, and real-time location data to recommend the most suitable rides, predict travel demand, optimize routes, and estimate fares more accurately. In addition, Natural Language Processing (NLP) enables AI chatbots to provide instant customer support and assist users with ride booking and common queries. Based on these advancements, the proposed </a:t>
            </a:r>
            <a:r>
              <a:rPr lang="en-US" sz="1600" b="1" spc="-10"/>
              <a:t>AI Ride Sharing Platform</a:t>
            </a:r>
            <a:r>
              <a:rPr lang="en-US" sz="1600" spc="-10"/>
              <a:t> integrates AI-powered ride recommendations, route optimization, fare estimation, and chatbot assistance to deliver a smarter, more efficient, and user-friendly transportation solution. The project builds upon existing research while addressing the limitations of conventional ride-sharing systems by offering intelligent decision-making and a more personalized user experience.</a:t>
            </a:r>
            <a:endParaRPr lang="en-US" sz="1600">
              <a:ea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507615">
              <a:lnSpc>
                <a:spcPct val="100000"/>
              </a:lnSpc>
              <a:spcBef>
                <a:spcPts val="100"/>
              </a:spcBef>
            </a:pPr>
            <a:r>
              <a:rPr spc="-25" dirty="0"/>
              <a:t>Objectives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860"/>
              </a:lnSpc>
            </a:pPr>
            <a:r>
              <a:rPr spc="-25" dirty="0"/>
              <a:t>DEPARTMENT</a:t>
            </a:r>
            <a:r>
              <a:rPr spc="-20" dirty="0"/>
              <a:t> </a:t>
            </a:r>
            <a:r>
              <a:rPr dirty="0"/>
              <a:t>OF</a:t>
            </a:r>
            <a:r>
              <a:rPr spc="-20" dirty="0"/>
              <a:t> </a:t>
            </a:r>
            <a:r>
              <a:rPr dirty="0"/>
              <a:t>COMPUTER</a:t>
            </a:r>
            <a:r>
              <a:rPr spc="-20" dirty="0"/>
              <a:t> </a:t>
            </a:r>
            <a:r>
              <a:rPr spc="-10" dirty="0"/>
              <a:t>ENGINEERING</a:t>
            </a:r>
          </a:p>
          <a:p>
            <a:pPr algn="ctr">
              <a:lnSpc>
                <a:spcPct val="100000"/>
              </a:lnSpc>
            </a:pPr>
            <a:r>
              <a:rPr spc="-10" dirty="0"/>
              <a:t>*Proprietary</a:t>
            </a:r>
            <a:r>
              <a:rPr spc="-60" dirty="0"/>
              <a:t> </a:t>
            </a:r>
            <a:r>
              <a:rPr dirty="0"/>
              <a:t>material</a:t>
            </a:r>
            <a:r>
              <a:rPr spc="-55" dirty="0"/>
              <a:t> </a:t>
            </a:r>
            <a:r>
              <a:rPr dirty="0"/>
              <a:t>of</a:t>
            </a:r>
            <a:r>
              <a:rPr spc="-60" dirty="0"/>
              <a:t> </a:t>
            </a:r>
            <a:r>
              <a:rPr spc="-25" dirty="0"/>
              <a:t>SILVER</a:t>
            </a:r>
            <a:r>
              <a:rPr spc="-55" dirty="0"/>
              <a:t> </a:t>
            </a:r>
            <a:r>
              <a:rPr dirty="0"/>
              <a:t>OAK</a:t>
            </a:r>
            <a:r>
              <a:rPr spc="-60" dirty="0"/>
              <a:t> </a:t>
            </a:r>
            <a:r>
              <a:rPr spc="-10" dirty="0"/>
              <a:t>UNIVERSITY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nSpc>
                <a:spcPts val="1240"/>
              </a:lnSpc>
            </a:pPr>
            <a:fld id="{81D60167-4931-47E6-BA6A-407CBD079E47}" type="slidenum">
              <a:rPr spc="-50" dirty="0"/>
              <a:t>7</a:t>
            </a:fld>
            <a:endParaRPr spc="-50" dirty="0"/>
          </a:p>
        </p:txBody>
      </p:sp>
      <p:sp>
        <p:nvSpPr>
          <p:cNvPr id="3" name="object 3"/>
          <p:cNvSpPr txBox="1"/>
          <p:nvPr/>
        </p:nvSpPr>
        <p:spPr>
          <a:xfrm>
            <a:off x="705687" y="1609345"/>
            <a:ext cx="10175875" cy="4301177"/>
          </a:xfrm>
          <a:prstGeom prst="rect">
            <a:avLst/>
          </a:prstGeom>
        </p:spPr>
        <p:txBody>
          <a:bodyPr vert="horz" wrap="square" lIns="0" tIns="12700" rIns="0" bIns="0" rtlCol="0" anchor="t">
            <a:spAutoFit/>
          </a:bodyPr>
          <a:lstStyle/>
          <a:p>
            <a:pPr algn="just">
              <a:spcBef>
                <a:spcPts val="100"/>
              </a:spcBef>
              <a:buChar char="•"/>
              <a:tabLst>
                <a:tab pos="332105" algn="l"/>
              </a:tabLst>
            </a:pPr>
            <a:r>
              <a:rPr lang="en-US" sz="1600" spc="-20"/>
              <a:t>The primary objective of the </a:t>
            </a:r>
            <a:r>
              <a:rPr lang="en-US" sz="1600" b="1" spc="-20"/>
              <a:t>AI Ride Sharing Platform</a:t>
            </a:r>
            <a:r>
              <a:rPr lang="en-US" sz="1600" spc="-20"/>
              <a:t> is to develop a secure, intelligent, and user-friendly web-based application that connects drivers and passengers traveling in similar directions. The platform aims to utilize Artificial Intelligence to improve ride matching, optimize travel routes, estimate fares, and provide personalized assistance, making ride sharing more efficient, cost-effective, and environmentally sustainable.</a:t>
            </a:r>
            <a:endParaRPr lang="en-US" sz="1600">
              <a:latin typeface="Cambria"/>
              <a:ea typeface="Cambria"/>
            </a:endParaRPr>
          </a:p>
          <a:p>
            <a:pPr algn="just">
              <a:spcBef>
                <a:spcPts val="100"/>
              </a:spcBef>
              <a:buChar char="•"/>
              <a:tabLst>
                <a:tab pos="332105" algn="l"/>
              </a:tabLst>
            </a:pPr>
            <a:r>
              <a:rPr lang="en-US" sz="1600" spc="-20"/>
              <a:t>The specific objectives of the project are:</a:t>
            </a:r>
            <a:endParaRPr lang="en-US" sz="1600"/>
          </a:p>
          <a:p>
            <a:pPr algn="just">
              <a:spcBef>
                <a:spcPts val="100"/>
              </a:spcBef>
              <a:buChar char="•"/>
              <a:tabLst>
                <a:tab pos="332105" algn="l"/>
              </a:tabLst>
            </a:pPr>
            <a:endParaRPr lang="en-US" sz="1600" spc="-20" dirty="0"/>
          </a:p>
          <a:p>
            <a:pPr algn="just">
              <a:spcBef>
                <a:spcPts val="100"/>
              </a:spcBef>
              <a:buAutoNum type="arabicPeriod"/>
              <a:tabLst>
                <a:tab pos="332105" algn="l"/>
              </a:tabLst>
            </a:pPr>
            <a:r>
              <a:rPr lang="en-US" sz="1600" b="1" spc="-20"/>
              <a:t>Develop a secure ride-sharing platform</a:t>
            </a:r>
            <a:r>
              <a:rPr lang="en-US" sz="1600" spc="-20"/>
              <a:t> for drivers and passengers with a simple, responsive, and user-friendly interface.</a:t>
            </a:r>
            <a:endParaRPr lang="en-US" sz="1600"/>
          </a:p>
          <a:p>
            <a:pPr algn="just">
              <a:spcBef>
                <a:spcPts val="100"/>
              </a:spcBef>
              <a:buAutoNum type="arabicPeriod"/>
              <a:tabLst>
                <a:tab pos="332105" algn="l"/>
              </a:tabLst>
            </a:pPr>
            <a:r>
              <a:rPr lang="en-US" sz="1600" b="1" spc="-20"/>
              <a:t>Implement user registration and authentication</a:t>
            </a:r>
            <a:r>
              <a:rPr lang="en-US" sz="1600" spc="-20"/>
              <a:t> using secure login and account management features for drivers, passengers, and administrators.</a:t>
            </a:r>
            <a:endParaRPr lang="en-US" sz="1600"/>
          </a:p>
          <a:p>
            <a:pPr algn="just">
              <a:spcBef>
                <a:spcPts val="100"/>
              </a:spcBef>
              <a:buAutoNum type="arabicPeriod"/>
              <a:tabLst>
                <a:tab pos="332105" algn="l"/>
              </a:tabLst>
            </a:pPr>
            <a:r>
              <a:rPr lang="en-US" sz="1600" b="1" spc="-20"/>
              <a:t>Allow drivers to publish ride details</a:t>
            </a:r>
            <a:r>
              <a:rPr lang="en-US" sz="1600" spc="-20"/>
              <a:t>, including pickup location, destination, travel date, time, available seats, and fare.</a:t>
            </a:r>
            <a:endParaRPr lang="en-US" sz="1600"/>
          </a:p>
          <a:p>
            <a:pPr algn="just">
              <a:spcBef>
                <a:spcPts val="100"/>
              </a:spcBef>
              <a:buAutoNum type="arabicPeriod"/>
              <a:tabLst>
                <a:tab pos="332105" algn="l"/>
              </a:tabLst>
            </a:pPr>
            <a:r>
              <a:rPr lang="en-US" sz="1600" b="1" spc="-20"/>
              <a:t>Enable passengers to search, filter, and book rides</a:t>
            </a:r>
            <a:r>
              <a:rPr lang="en-US" sz="1600" spc="-20"/>
              <a:t> based on their travel preferences, schedule, and destination.</a:t>
            </a:r>
            <a:endParaRPr lang="en-US" sz="1600"/>
          </a:p>
          <a:p>
            <a:pPr algn="just">
              <a:spcBef>
                <a:spcPts val="100"/>
              </a:spcBef>
              <a:buAutoNum type="arabicPeriod"/>
              <a:tabLst>
                <a:tab pos="332105" algn="l"/>
              </a:tabLst>
            </a:pPr>
            <a:r>
              <a:rPr lang="en-US" sz="1600" b="1" spc="-20"/>
              <a:t>Integrate AI-based ride recommendation</a:t>
            </a:r>
            <a:r>
              <a:rPr lang="en-US" sz="1600" spc="-20"/>
              <a:t> to suggest the most suitable rides by analyzing route similarity, user preferences, seat availability, driver ratings, and travel history.</a:t>
            </a:r>
            <a:endParaRPr lang="en-US" sz="1600"/>
          </a:p>
          <a:p>
            <a:pPr algn="just">
              <a:lnSpc>
                <a:spcPct val="100000"/>
              </a:lnSpc>
              <a:spcBef>
                <a:spcPts val="100"/>
              </a:spcBef>
              <a:buChar char="•"/>
              <a:tabLst>
                <a:tab pos="332105" algn="l"/>
              </a:tabLst>
            </a:pPr>
            <a:endParaRPr lang="en-US" sz="1600" spc="-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Required</a:t>
            </a:r>
            <a:r>
              <a:rPr spc="-125" dirty="0"/>
              <a:t> </a:t>
            </a:r>
            <a:r>
              <a:rPr spc="-65" dirty="0"/>
              <a:t>Tools</a:t>
            </a:r>
            <a:r>
              <a:rPr spc="-120" dirty="0"/>
              <a:t> </a:t>
            </a:r>
            <a:r>
              <a:rPr dirty="0"/>
              <a:t>and</a:t>
            </a:r>
            <a:r>
              <a:rPr spc="-120" dirty="0"/>
              <a:t> </a:t>
            </a:r>
            <a:r>
              <a:rPr spc="-10" dirty="0"/>
              <a:t>Technology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9535">
              <a:lnSpc>
                <a:spcPts val="1240"/>
              </a:lnSpc>
            </a:pPr>
            <a:fld id="{81D60167-4931-47E6-BA6A-407CBD079E47}" type="slidenum">
              <a:rPr spc="-50" dirty="0"/>
              <a:t>8</a:t>
            </a:fld>
            <a:endParaRPr spc="-50" dirty="0"/>
          </a:p>
        </p:txBody>
      </p:sp>
      <p:sp>
        <p:nvSpPr>
          <p:cNvPr id="7" name="object 7"/>
          <p:cNvSpPr txBox="1"/>
          <p:nvPr/>
        </p:nvSpPr>
        <p:spPr>
          <a:xfrm>
            <a:off x="3527425" y="6559394"/>
            <a:ext cx="4509770" cy="254000"/>
          </a:xfrm>
          <a:prstGeom prst="rect">
            <a:avLst/>
          </a:prstGeom>
        </p:spPr>
        <p:txBody>
          <a:bodyPr vert="horz" wrap="square" lIns="0" tIns="0" rIns="0" bIns="0" rtlCol="0">
            <a:spAutoFit/>
          </a:bodyPr>
          <a:lstStyle/>
          <a:p>
            <a:pPr marL="12700">
              <a:lnSpc>
                <a:spcPts val="1810"/>
              </a:lnSpc>
            </a:pPr>
            <a:r>
              <a:rPr sz="1800" spc="-10" dirty="0">
                <a:latin typeface="Calibri"/>
                <a:cs typeface="Calibri"/>
              </a:rPr>
              <a:t>*Proprietary</a:t>
            </a:r>
            <a:r>
              <a:rPr sz="1800" spc="-45" dirty="0">
                <a:latin typeface="Calibri"/>
                <a:cs typeface="Calibri"/>
              </a:rPr>
              <a:t> </a:t>
            </a:r>
            <a:r>
              <a:rPr sz="1800" dirty="0">
                <a:latin typeface="Calibri"/>
                <a:cs typeface="Calibri"/>
              </a:rPr>
              <a:t>material</a:t>
            </a:r>
            <a:r>
              <a:rPr sz="1800" spc="-45" dirty="0">
                <a:latin typeface="Calibri"/>
                <a:cs typeface="Calibri"/>
              </a:rPr>
              <a:t> </a:t>
            </a:r>
            <a:r>
              <a:rPr sz="1800" dirty="0">
                <a:latin typeface="Calibri"/>
                <a:cs typeface="Calibri"/>
              </a:rPr>
              <a:t>of</a:t>
            </a:r>
            <a:r>
              <a:rPr sz="1800" spc="-45" dirty="0">
                <a:latin typeface="Calibri"/>
                <a:cs typeface="Calibri"/>
              </a:rPr>
              <a:t> </a:t>
            </a:r>
            <a:r>
              <a:rPr sz="1800" spc="-20" dirty="0">
                <a:latin typeface="Calibri"/>
                <a:cs typeface="Calibri"/>
              </a:rPr>
              <a:t>SILVER</a:t>
            </a:r>
            <a:r>
              <a:rPr sz="1800" spc="-45" dirty="0">
                <a:latin typeface="Calibri"/>
                <a:cs typeface="Calibri"/>
              </a:rPr>
              <a:t> </a:t>
            </a:r>
            <a:r>
              <a:rPr sz="1800" dirty="0">
                <a:latin typeface="Calibri"/>
                <a:cs typeface="Calibri"/>
              </a:rPr>
              <a:t>OAK</a:t>
            </a:r>
            <a:r>
              <a:rPr sz="1800" spc="-45" dirty="0">
                <a:latin typeface="Calibri"/>
                <a:cs typeface="Calibri"/>
              </a:rPr>
              <a:t> </a:t>
            </a:r>
            <a:r>
              <a:rPr sz="1800" spc="-10" dirty="0">
                <a:latin typeface="Calibri"/>
                <a:cs typeface="Calibri"/>
              </a:rPr>
              <a:t>UNIVERSITY</a:t>
            </a:r>
            <a:endParaRPr sz="1800">
              <a:latin typeface="Calibri"/>
              <a:cs typeface="Calibri"/>
            </a:endParaRPr>
          </a:p>
        </p:txBody>
      </p:sp>
      <p:sp>
        <p:nvSpPr>
          <p:cNvPr id="3" name="object 3"/>
          <p:cNvSpPr txBox="1"/>
          <p:nvPr/>
        </p:nvSpPr>
        <p:spPr>
          <a:xfrm>
            <a:off x="705687" y="1609345"/>
            <a:ext cx="4881245" cy="4131900"/>
          </a:xfrm>
          <a:prstGeom prst="rect">
            <a:avLst/>
          </a:prstGeom>
        </p:spPr>
        <p:txBody>
          <a:bodyPr vert="horz" wrap="square" lIns="0" tIns="12700" rIns="0" bIns="0" rtlCol="0" anchor="t">
            <a:spAutoFit/>
          </a:bodyPr>
          <a:lstStyle/>
          <a:p>
            <a:pPr marL="285750" indent="-285750" algn="just">
              <a:spcBef>
                <a:spcPts val="100"/>
              </a:spcBef>
              <a:buFont typeface="Wingdings"/>
              <a:buChar char="q"/>
              <a:tabLst>
                <a:tab pos="332105" algn="l"/>
              </a:tabLst>
            </a:pPr>
            <a:r>
              <a:rPr lang="en-US" sz="1600" b="1" spc="-10"/>
              <a:t>Frontend</a:t>
            </a:r>
            <a:endParaRPr lang="en-US" sz="1600">
              <a:latin typeface="Cambria"/>
              <a:ea typeface="Cambria"/>
            </a:endParaRPr>
          </a:p>
          <a:p>
            <a:pPr marL="285750" indent="-285750" algn="just">
              <a:spcBef>
                <a:spcPts val="100"/>
              </a:spcBef>
              <a:buFont typeface="Wingdings"/>
              <a:buChar char="q"/>
              <a:tabLst>
                <a:tab pos="332105" algn="l"/>
              </a:tabLst>
            </a:pPr>
            <a:r>
              <a:rPr lang="en-US" sz="1600" spc="-10"/>
              <a:t>HTML5</a:t>
            </a:r>
            <a:endParaRPr lang="en-US" sz="1600" b="1" spc="-10"/>
          </a:p>
          <a:p>
            <a:pPr marL="285750" indent="-285750" algn="just">
              <a:spcBef>
                <a:spcPts val="100"/>
              </a:spcBef>
              <a:buFont typeface="Wingdings"/>
              <a:buChar char="q"/>
              <a:tabLst>
                <a:tab pos="332105" algn="l"/>
              </a:tabLst>
            </a:pPr>
            <a:r>
              <a:rPr lang="en-US" sz="1600" spc="-10"/>
              <a:t>CSS3 </a:t>
            </a:r>
            <a:endParaRPr lang="en-US" sz="1600"/>
          </a:p>
          <a:p>
            <a:pPr marL="285750" indent="-285750" algn="just">
              <a:spcBef>
                <a:spcPts val="100"/>
              </a:spcBef>
              <a:buFont typeface="Wingdings"/>
              <a:buChar char="q"/>
              <a:tabLst>
                <a:tab pos="332105" algn="l"/>
              </a:tabLst>
            </a:pPr>
            <a:r>
              <a:rPr lang="en-US" sz="1600" spc="-10"/>
              <a:t>JavaScript </a:t>
            </a:r>
            <a:endParaRPr lang="en-US" sz="1600"/>
          </a:p>
          <a:p>
            <a:pPr marL="285750" indent="-285750" algn="just">
              <a:spcBef>
                <a:spcPts val="100"/>
              </a:spcBef>
              <a:buFont typeface="Wingdings"/>
              <a:buChar char="q"/>
              <a:tabLst>
                <a:tab pos="332105" algn="l"/>
              </a:tabLst>
            </a:pPr>
            <a:r>
              <a:rPr lang="en-US" sz="1600" spc="-10"/>
              <a:t>Bootstrap</a:t>
            </a:r>
            <a:endParaRPr lang="en-US" sz="1600"/>
          </a:p>
          <a:p>
            <a:pPr marL="285750" indent="-285750" algn="just">
              <a:spcBef>
                <a:spcPts val="100"/>
              </a:spcBef>
              <a:buFont typeface="Wingdings"/>
              <a:buChar char="q"/>
              <a:tabLst>
                <a:tab pos="332105" algn="l"/>
              </a:tabLst>
            </a:pPr>
            <a:endParaRPr lang="en-US" sz="1600"/>
          </a:p>
          <a:p>
            <a:pPr marL="285750" indent="-285750" algn="just">
              <a:spcBef>
                <a:spcPts val="100"/>
              </a:spcBef>
              <a:buFont typeface="Wingdings"/>
              <a:buChar char="q"/>
              <a:tabLst>
                <a:tab pos="332105" algn="l"/>
              </a:tabLst>
            </a:pPr>
            <a:r>
              <a:rPr lang="en-US" sz="1600" b="1" spc="-10"/>
              <a:t>Backend</a:t>
            </a:r>
            <a:endParaRPr lang="en-US" sz="1600"/>
          </a:p>
          <a:p>
            <a:pPr marL="285750" indent="-285750" algn="just">
              <a:spcBef>
                <a:spcPts val="100"/>
              </a:spcBef>
              <a:buFont typeface="Wingdings"/>
              <a:buChar char="q"/>
              <a:tabLst>
                <a:tab pos="332105" algn="l"/>
              </a:tabLst>
            </a:pPr>
            <a:r>
              <a:rPr lang="en-US" sz="1600" spc="-10"/>
              <a:t>PHP </a:t>
            </a:r>
            <a:endParaRPr lang="en-US" sz="1600"/>
          </a:p>
          <a:p>
            <a:pPr marL="285750" indent="-285750" algn="just">
              <a:spcBef>
                <a:spcPts val="100"/>
              </a:spcBef>
              <a:buFont typeface="Wingdings"/>
              <a:buChar char="q"/>
              <a:tabLst>
                <a:tab pos="332105" algn="l"/>
              </a:tabLst>
            </a:pPr>
            <a:endParaRPr lang="en-US" sz="1600" spc="-10" dirty="0"/>
          </a:p>
          <a:p>
            <a:pPr marL="285750" indent="-285750" algn="just">
              <a:spcBef>
                <a:spcPts val="100"/>
              </a:spcBef>
              <a:buFont typeface="Wingdings"/>
              <a:buChar char="q"/>
              <a:tabLst>
                <a:tab pos="332105" algn="l"/>
              </a:tabLst>
            </a:pPr>
            <a:r>
              <a:rPr lang="en-US" sz="1600" b="1" spc="-10"/>
              <a:t>Database</a:t>
            </a:r>
            <a:endParaRPr lang="en-US" sz="1600"/>
          </a:p>
          <a:p>
            <a:pPr marL="285750" indent="-285750" algn="just">
              <a:spcBef>
                <a:spcPts val="100"/>
              </a:spcBef>
              <a:buFont typeface="Wingdings"/>
              <a:buChar char="q"/>
              <a:tabLst>
                <a:tab pos="332105" algn="l"/>
              </a:tabLst>
            </a:pPr>
            <a:r>
              <a:rPr lang="en-US" sz="1600" spc="-10"/>
              <a:t>MySQL </a:t>
            </a:r>
            <a:endParaRPr lang="en-US" sz="1600"/>
          </a:p>
          <a:p>
            <a:pPr marL="285750" indent="-285750" algn="just">
              <a:spcBef>
                <a:spcPts val="100"/>
              </a:spcBef>
              <a:buFont typeface="Wingdings"/>
              <a:buChar char="q"/>
              <a:tabLst>
                <a:tab pos="332105" algn="l"/>
              </a:tabLst>
            </a:pPr>
            <a:endParaRPr lang="en-US" sz="1600" spc="-10" dirty="0"/>
          </a:p>
          <a:p>
            <a:pPr marL="285750" indent="-285750" algn="just">
              <a:spcBef>
                <a:spcPts val="100"/>
              </a:spcBef>
              <a:buFont typeface="Wingdings"/>
              <a:buChar char="q"/>
              <a:tabLst>
                <a:tab pos="332105" algn="l"/>
              </a:tabLst>
            </a:pPr>
            <a:r>
              <a:rPr lang="en-US" sz="1600" b="1" spc="-10"/>
              <a:t>Artificial Intelligence</a:t>
            </a:r>
            <a:endParaRPr lang="en-US" sz="1600"/>
          </a:p>
          <a:p>
            <a:pPr marL="285750" indent="-285750" algn="just">
              <a:spcBef>
                <a:spcPts val="100"/>
              </a:spcBef>
              <a:buFont typeface="Wingdings"/>
              <a:buChar char="q"/>
              <a:tabLst>
                <a:tab pos="332105" algn="l"/>
              </a:tabLst>
            </a:pPr>
            <a:r>
              <a:rPr lang="en-US" sz="1600" spc="-10"/>
              <a:t>Google Gemini API (AI Chatbot) </a:t>
            </a:r>
            <a:endParaRPr lang="en-US" sz="1600"/>
          </a:p>
          <a:p>
            <a:pPr marL="285750" indent="-285750" algn="just">
              <a:spcBef>
                <a:spcPts val="100"/>
              </a:spcBef>
              <a:buFont typeface="Wingdings"/>
              <a:buChar char="q"/>
              <a:tabLst>
                <a:tab pos="332105" algn="l"/>
              </a:tabLst>
            </a:pPr>
            <a:r>
              <a:rPr lang="en-US" sz="1600" spc="-10"/>
              <a:t>Python (for AI recommendation algorithms, if required) </a:t>
            </a:r>
            <a:endParaRPr lang="en-US" sz="1600"/>
          </a:p>
        </p:txBody>
      </p:sp>
      <p:sp>
        <p:nvSpPr>
          <p:cNvPr id="4" name="object 4"/>
          <p:cNvSpPr txBox="1"/>
          <p:nvPr/>
        </p:nvSpPr>
        <p:spPr>
          <a:xfrm>
            <a:off x="3527425" y="6227925"/>
            <a:ext cx="4101465"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DEPARTMENT</a:t>
            </a:r>
            <a:r>
              <a:rPr sz="1800" spc="-30"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COMPUTER</a:t>
            </a:r>
            <a:r>
              <a:rPr sz="1800" spc="-25" dirty="0">
                <a:latin typeface="Calibri"/>
                <a:cs typeface="Calibri"/>
              </a:rPr>
              <a:t> </a:t>
            </a:r>
            <a:r>
              <a:rPr sz="1800" spc="-10" dirty="0">
                <a:latin typeface="Calibri"/>
                <a:cs typeface="Calibri"/>
              </a:rPr>
              <a:t>ENGINEERING</a:t>
            </a:r>
            <a:endParaRPr sz="1800">
              <a:latin typeface="Calibri"/>
              <a:cs typeface="Calibri"/>
            </a:endParaRPr>
          </a:p>
        </p:txBody>
      </p:sp>
      <p:sp>
        <p:nvSpPr>
          <p:cNvPr id="8" name="object 3">
            <a:extLst>
              <a:ext uri="{FF2B5EF4-FFF2-40B4-BE49-F238E27FC236}">
                <a16:creationId xmlns:a16="http://schemas.microsoft.com/office/drawing/2014/main" id="{7070FC91-890C-1713-2434-E06DCD4F93FA}"/>
              </a:ext>
            </a:extLst>
          </p:cNvPr>
          <p:cNvSpPr txBox="1"/>
          <p:nvPr/>
        </p:nvSpPr>
        <p:spPr>
          <a:xfrm>
            <a:off x="5690436" y="1609344"/>
            <a:ext cx="4881245" cy="2590453"/>
          </a:xfrm>
          <a:prstGeom prst="rect">
            <a:avLst/>
          </a:prstGeom>
        </p:spPr>
        <p:txBody>
          <a:bodyPr vert="horz" wrap="square" lIns="0" tIns="12700" rIns="0" bIns="0" rtlCol="0" anchor="t">
            <a:spAutoFit/>
          </a:bodyPr>
          <a:lstStyle/>
          <a:p>
            <a:pPr marL="285750" indent="-285750" algn="l">
              <a:spcBef>
                <a:spcPts val="100"/>
              </a:spcBef>
              <a:buFont typeface="Wingdings"/>
              <a:buChar char="q"/>
              <a:tabLst>
                <a:tab pos="332105" algn="l"/>
              </a:tabLst>
            </a:pPr>
            <a:r>
              <a:rPr lang="en-US" sz="1600" b="1" spc="-10">
                <a:latin typeface="Calibri"/>
                <a:ea typeface="Calibri"/>
                <a:cs typeface="Calibri"/>
              </a:rPr>
              <a:t>APIs</a:t>
            </a:r>
            <a:endParaRPr lang="en-US" sz="1600" spc="-10">
              <a:latin typeface="Calibri"/>
              <a:ea typeface="Calibri"/>
              <a:cs typeface="Calibri"/>
            </a:endParaRPr>
          </a:p>
          <a:p>
            <a:pPr marL="285750" indent="-285750" algn="l">
              <a:spcBef>
                <a:spcPts val="100"/>
              </a:spcBef>
              <a:buFont typeface="Wingdings"/>
              <a:buChar char="q"/>
              <a:tabLst>
                <a:tab pos="332105" algn="l"/>
              </a:tabLst>
            </a:pPr>
            <a:r>
              <a:rPr lang="en-US" sz="1600" spc="-10">
                <a:latin typeface="Calibri"/>
                <a:ea typeface="Calibri"/>
                <a:cs typeface="Calibri"/>
              </a:rPr>
              <a:t>Google Maps API </a:t>
            </a:r>
          </a:p>
          <a:p>
            <a:pPr marL="285750" indent="-285750" algn="l">
              <a:spcBef>
                <a:spcPts val="100"/>
              </a:spcBef>
              <a:buFont typeface="Wingdings"/>
              <a:buChar char="q"/>
              <a:tabLst>
                <a:tab pos="332105" algn="l"/>
              </a:tabLst>
            </a:pPr>
            <a:r>
              <a:rPr lang="en-US" sz="1600" spc="-10">
                <a:latin typeface="Calibri"/>
                <a:ea typeface="Calibri"/>
                <a:cs typeface="Calibri"/>
              </a:rPr>
              <a:t>Geolocation API </a:t>
            </a:r>
          </a:p>
          <a:p>
            <a:pPr marL="285750" indent="-285750" algn="l">
              <a:spcBef>
                <a:spcPts val="100"/>
              </a:spcBef>
              <a:buFont typeface="Wingdings"/>
              <a:buChar char="q"/>
              <a:tabLst>
                <a:tab pos="332105" algn="l"/>
              </a:tabLst>
            </a:pPr>
            <a:endParaRPr lang="en-US" sz="1600" spc="-10" dirty="0">
              <a:latin typeface="Calibri"/>
              <a:ea typeface="Calibri"/>
              <a:cs typeface="Calibri"/>
            </a:endParaRPr>
          </a:p>
          <a:p>
            <a:pPr marL="285750" indent="-285750" algn="l">
              <a:spcBef>
                <a:spcPts val="100"/>
              </a:spcBef>
              <a:buFont typeface="Wingdings"/>
              <a:buChar char="q"/>
              <a:tabLst>
                <a:tab pos="332105" algn="l"/>
              </a:tabLst>
            </a:pPr>
            <a:r>
              <a:rPr lang="en-US" sz="1600" b="1" spc="-10">
                <a:latin typeface="Calibri"/>
                <a:ea typeface="Calibri"/>
                <a:cs typeface="Calibri"/>
              </a:rPr>
              <a:t>Development Tools</a:t>
            </a:r>
            <a:endParaRPr lang="en-US" sz="1600" spc="-10">
              <a:latin typeface="Calibri"/>
              <a:ea typeface="Calibri"/>
              <a:cs typeface="Calibri"/>
            </a:endParaRPr>
          </a:p>
          <a:p>
            <a:pPr marL="285750" indent="-285750" algn="l">
              <a:spcBef>
                <a:spcPts val="100"/>
              </a:spcBef>
              <a:buFont typeface="Wingdings"/>
              <a:buChar char="q"/>
              <a:tabLst>
                <a:tab pos="332105" algn="l"/>
              </a:tabLst>
            </a:pPr>
            <a:r>
              <a:rPr lang="en-US" sz="1600" spc="-10">
                <a:latin typeface="Calibri"/>
                <a:ea typeface="Calibri"/>
                <a:cs typeface="Calibri"/>
              </a:rPr>
              <a:t>Visual Studio Code </a:t>
            </a:r>
          </a:p>
          <a:p>
            <a:pPr marL="285750" indent="-285750" algn="l">
              <a:spcBef>
                <a:spcPts val="100"/>
              </a:spcBef>
              <a:buFont typeface="Wingdings"/>
              <a:buChar char="q"/>
              <a:tabLst>
                <a:tab pos="332105" algn="l"/>
              </a:tabLst>
            </a:pPr>
            <a:r>
              <a:rPr lang="en-US" sz="1600" spc="-10">
                <a:latin typeface="Calibri"/>
                <a:ea typeface="Calibri"/>
                <a:cs typeface="Calibri"/>
              </a:rPr>
              <a:t>XAMPP </a:t>
            </a:r>
          </a:p>
          <a:p>
            <a:pPr marL="285750" indent="-285750" algn="l">
              <a:spcBef>
                <a:spcPts val="100"/>
              </a:spcBef>
              <a:buFont typeface="Wingdings"/>
              <a:buChar char="q"/>
              <a:tabLst>
                <a:tab pos="332105" algn="l"/>
              </a:tabLst>
            </a:pPr>
            <a:r>
              <a:rPr lang="en-US" sz="1600" spc="-10">
                <a:latin typeface="Calibri"/>
                <a:ea typeface="Calibri"/>
                <a:cs typeface="Calibri"/>
              </a:rPr>
              <a:t>Git &amp; GitHub </a:t>
            </a:r>
          </a:p>
          <a:p>
            <a:pPr marL="285750" indent="-285750" algn="l">
              <a:spcBef>
                <a:spcPts val="100"/>
              </a:spcBef>
              <a:buFont typeface="Wingdings"/>
              <a:buChar char="q"/>
              <a:tabLst>
                <a:tab pos="332105" algn="l"/>
              </a:tabLst>
            </a:pPr>
            <a:r>
              <a:rPr lang="en-US" sz="1600" spc="-10">
                <a:latin typeface="Calibri"/>
                <a:ea typeface="Calibri"/>
                <a:cs typeface="Calibri"/>
              </a:rPr>
              <a:t>phpMyAdmin</a:t>
            </a:r>
          </a:p>
          <a:p>
            <a:pPr marL="285750" indent="-285750" algn="l">
              <a:spcBef>
                <a:spcPts val="100"/>
              </a:spcBef>
              <a:buFont typeface="Wingdings"/>
              <a:buChar char="q"/>
              <a:tabLst>
                <a:tab pos="332105" algn="l"/>
              </a:tabLst>
            </a:pPr>
            <a:endParaRPr lang="en-US" sz="1600" b="1" spc="-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462405">
              <a:lnSpc>
                <a:spcPct val="100000"/>
              </a:lnSpc>
              <a:spcBef>
                <a:spcPts val="100"/>
              </a:spcBef>
            </a:pPr>
            <a:r>
              <a:rPr dirty="0"/>
              <a:t>Method/</a:t>
            </a:r>
            <a:r>
              <a:rPr spc="-204" dirty="0"/>
              <a:t> </a:t>
            </a:r>
            <a:r>
              <a:rPr spc="-10" dirty="0"/>
              <a:t>Approach</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860"/>
              </a:lnSpc>
            </a:pPr>
            <a:r>
              <a:rPr spc="-25" dirty="0"/>
              <a:t>DEPARTMENT</a:t>
            </a:r>
            <a:r>
              <a:rPr spc="-20" dirty="0"/>
              <a:t> </a:t>
            </a:r>
            <a:r>
              <a:rPr dirty="0"/>
              <a:t>OF</a:t>
            </a:r>
            <a:r>
              <a:rPr spc="-20" dirty="0"/>
              <a:t> </a:t>
            </a:r>
            <a:r>
              <a:rPr dirty="0"/>
              <a:t>COMPUTER</a:t>
            </a:r>
            <a:r>
              <a:rPr spc="-20" dirty="0"/>
              <a:t> </a:t>
            </a:r>
            <a:r>
              <a:rPr spc="-10" dirty="0"/>
              <a:t>ENGINEERING</a:t>
            </a:r>
          </a:p>
          <a:p>
            <a:pPr algn="ctr">
              <a:lnSpc>
                <a:spcPct val="100000"/>
              </a:lnSpc>
            </a:pPr>
            <a:r>
              <a:rPr spc="-10" dirty="0"/>
              <a:t>*Proprietary</a:t>
            </a:r>
            <a:r>
              <a:rPr spc="-60" dirty="0"/>
              <a:t> </a:t>
            </a:r>
            <a:r>
              <a:rPr dirty="0"/>
              <a:t>material</a:t>
            </a:r>
            <a:r>
              <a:rPr spc="-55" dirty="0"/>
              <a:t> </a:t>
            </a:r>
            <a:r>
              <a:rPr dirty="0"/>
              <a:t>of</a:t>
            </a:r>
            <a:r>
              <a:rPr spc="-60" dirty="0"/>
              <a:t> </a:t>
            </a:r>
            <a:r>
              <a:rPr spc="-25" dirty="0"/>
              <a:t>SILVER</a:t>
            </a:r>
            <a:r>
              <a:rPr spc="-55" dirty="0"/>
              <a:t> </a:t>
            </a:r>
            <a:r>
              <a:rPr dirty="0"/>
              <a:t>OAK</a:t>
            </a:r>
            <a:r>
              <a:rPr spc="-60" dirty="0"/>
              <a:t> </a:t>
            </a:r>
            <a:r>
              <a:rPr spc="-10" dirty="0"/>
              <a:t>UNIVERSITY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sp>
        <p:nvSpPr>
          <p:cNvPr id="3" name="object 3"/>
          <p:cNvSpPr txBox="1">
            <a:spLocks noGrp="1"/>
          </p:cNvSpPr>
          <p:nvPr>
            <p:ph type="body" idx="1"/>
          </p:nvPr>
        </p:nvSpPr>
        <p:spPr>
          <a:xfrm>
            <a:off x="705687" y="1609345"/>
            <a:ext cx="10625455" cy="4444807"/>
          </a:xfrm>
          <a:prstGeom prst="rect">
            <a:avLst/>
          </a:prstGeom>
        </p:spPr>
        <p:txBody>
          <a:bodyPr vert="horz" wrap="square" lIns="0" tIns="12700" rIns="0" bIns="0" rtlCol="0" anchor="t">
            <a:spAutoFit/>
          </a:bodyPr>
          <a:lstStyle/>
          <a:p>
            <a:pPr marL="342900" indent="-342900" algn="just">
              <a:buAutoNum type="arabicPeriod"/>
              <a:tabLst>
                <a:tab pos="332105" algn="l"/>
              </a:tabLst>
            </a:pPr>
            <a:r>
              <a:rPr lang="en-US" sz="1600" spc="-20"/>
              <a:t>Users register on the platform by creating an account and securely log in using their credentials.</a:t>
            </a:r>
            <a:endParaRPr lang="en-US" sz="1600">
              <a:ea typeface="Cambria"/>
            </a:endParaRPr>
          </a:p>
          <a:p>
            <a:pPr marL="342900" indent="-342900" algn="just">
              <a:buAutoNum type="arabicPeriod"/>
              <a:tabLst>
                <a:tab pos="332105" algn="l"/>
              </a:tabLst>
            </a:pPr>
            <a:r>
              <a:rPr lang="en-US" sz="1600" spc="-20"/>
              <a:t>Drivers create ride offers by entering details such as pickup location, destination, travel date, departure time, available seats, and expected fare.</a:t>
            </a:r>
            <a:endParaRPr lang="en-US" sz="1600">
              <a:ea typeface="Cambria"/>
            </a:endParaRPr>
          </a:p>
          <a:p>
            <a:pPr marL="342900" indent="-342900" algn="just">
              <a:buAutoNum type="arabicPeriod"/>
              <a:tabLst>
                <a:tab pos="332105" algn="l"/>
              </a:tabLst>
            </a:pPr>
            <a:r>
              <a:rPr lang="en-US" sz="1600" spc="-20"/>
              <a:t>Passengers search for available rides based on their travel requirements, including source, destination, date, and preferred time.</a:t>
            </a:r>
            <a:endParaRPr lang="en-US" sz="1600">
              <a:ea typeface="Cambria"/>
            </a:endParaRPr>
          </a:p>
          <a:p>
            <a:pPr marL="342900" indent="-342900" algn="just">
              <a:buAutoNum type="arabicPeriod"/>
              <a:tabLst>
                <a:tab pos="332105" algn="l"/>
              </a:tabLst>
            </a:pPr>
            <a:r>
              <a:rPr lang="en-US" sz="1600" spc="-20"/>
              <a:t>The AI engine analyzes ride details, travel routes, user preferences, seat availability, distance, pricing, traffic conditions, and driver ratings to recommend the most suitable rides.</a:t>
            </a:r>
            <a:endParaRPr lang="en-US" sz="1600">
              <a:ea typeface="Cambria"/>
            </a:endParaRPr>
          </a:p>
          <a:p>
            <a:pPr marL="342900" indent="-342900" algn="just">
              <a:buAutoNum type="arabicPeriod"/>
              <a:tabLst>
                <a:tab pos="332105" algn="l"/>
              </a:tabLst>
            </a:pPr>
            <a:r>
              <a:rPr lang="en-US" sz="1600" spc="-20"/>
              <a:t>Passengers send booking requests for their selected rides through the platform.</a:t>
            </a:r>
            <a:endParaRPr lang="en-US" sz="1600">
              <a:ea typeface="Cambria"/>
            </a:endParaRPr>
          </a:p>
          <a:p>
            <a:pPr marL="342900" indent="-342900" algn="just">
              <a:buAutoNum type="arabicPeriod"/>
              <a:tabLst>
                <a:tab pos="332105" algn="l"/>
              </a:tabLst>
            </a:pPr>
            <a:r>
              <a:rPr lang="en-US" sz="1600" spc="-20" dirty="0" err="1"/>
              <a:t>Drivers</a:t>
            </a:r>
            <a:r>
              <a:rPr lang="en-US" sz="1600" spc="-20" dirty="0"/>
              <a:t> review booking requests and accept or reject them based on seat availability and travel preferences.</a:t>
            </a:r>
            <a:endParaRPr lang="en-US" sz="1600" dirty="0">
              <a:ea typeface="Cambria"/>
            </a:endParaRPr>
          </a:p>
          <a:p>
            <a:pPr marL="342900" indent="-342900" algn="just">
              <a:buAutoNum type="arabicPeriod"/>
              <a:tabLst>
                <a:tab pos="332105" algn="l"/>
              </a:tabLst>
            </a:pPr>
            <a:r>
              <a:rPr lang="en-US" sz="1600" spc="-20"/>
              <a:t>Once a booking is confirmed, both the driver and passenger receive booking confirmation and ride details through the platform.</a:t>
            </a:r>
            <a:endParaRPr lang="en-US" sz="1600">
              <a:ea typeface="Cambria"/>
            </a:endParaRPr>
          </a:p>
          <a:p>
            <a:pPr marL="342900" indent="-342900" algn="just">
              <a:buAutoNum type="arabicPeriod"/>
              <a:tabLst>
                <a:tab pos="332105" algn="l"/>
              </a:tabLst>
            </a:pPr>
            <a:r>
              <a:rPr lang="en-US" sz="1600" spc="-20"/>
              <a:t>The AI system suggests the most efficient travel route and estimates a fair fare using distance, traffic conditions, and travel time.</a:t>
            </a:r>
            <a:endParaRPr lang="en-US" sz="1600">
              <a:ea typeface="Cambria"/>
            </a:endParaRPr>
          </a:p>
          <a:p>
            <a:pPr marL="342900" indent="-342900" algn="just">
              <a:buAutoNum type="arabicPeriod"/>
              <a:tabLst>
                <a:tab pos="332105" algn="l"/>
              </a:tabLst>
            </a:pPr>
            <a:r>
              <a:rPr lang="en-US" sz="1600" spc="-20"/>
              <a:t>An AI-powered chatbot assists users by answering common questions, guiding them through ride booking, and providing instant support whenever required.</a:t>
            </a:r>
            <a:endParaRPr lang="en-US" sz="1600">
              <a:ea typeface="Cambria"/>
            </a:endParaRPr>
          </a:p>
          <a:p>
            <a:pPr marL="342900" indent="-342900" algn="just">
              <a:buAutoNum type="arabicPeriod"/>
              <a:tabLst>
                <a:tab pos="332105" algn="l"/>
              </a:tabLst>
            </a:pPr>
            <a:r>
              <a:rPr lang="en-US" sz="1600" spc="-20"/>
              <a:t>After the ride is completed, passengers can rate the driver and provide feedback, while drivers can also review passengers to improve trust and service quality.</a:t>
            </a:r>
            <a:endParaRPr lang="en-US" sz="1600">
              <a:ea typeface="Cambria"/>
            </a:endParaRPr>
          </a:p>
          <a:p>
            <a:pPr marL="342900" indent="-342900" algn="just">
              <a:lnSpc>
                <a:spcPct val="100000"/>
              </a:lnSpc>
              <a:buAutoNum type="arabicPeriod"/>
              <a:tabLst>
                <a:tab pos="332105" algn="l"/>
              </a:tabLst>
            </a:pPr>
            <a:endParaRPr lang="en-US" sz="1600" spc="-20" dirty="0">
              <a:ea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202180">
              <a:lnSpc>
                <a:spcPct val="100000"/>
              </a:lnSpc>
              <a:spcBef>
                <a:spcPts val="100"/>
              </a:spcBef>
            </a:pPr>
            <a:r>
              <a:rPr spc="-20" dirty="0"/>
              <a:t>Bibliography</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860"/>
              </a:lnSpc>
            </a:pPr>
            <a:r>
              <a:rPr spc="-25" dirty="0"/>
              <a:t>DEPARTMENT</a:t>
            </a:r>
            <a:r>
              <a:rPr spc="-20" dirty="0"/>
              <a:t> </a:t>
            </a:r>
            <a:r>
              <a:rPr dirty="0"/>
              <a:t>OF</a:t>
            </a:r>
            <a:r>
              <a:rPr spc="-20" dirty="0"/>
              <a:t> </a:t>
            </a:r>
            <a:r>
              <a:rPr dirty="0"/>
              <a:t>COMPUTER</a:t>
            </a:r>
            <a:r>
              <a:rPr spc="-20" dirty="0"/>
              <a:t> </a:t>
            </a:r>
            <a:r>
              <a:rPr spc="-10" dirty="0"/>
              <a:t>ENGINEERING</a:t>
            </a:r>
          </a:p>
          <a:p>
            <a:pPr algn="ctr">
              <a:lnSpc>
                <a:spcPct val="100000"/>
              </a:lnSpc>
            </a:pPr>
            <a:r>
              <a:rPr spc="-10" dirty="0"/>
              <a:t>*Proprietary</a:t>
            </a:r>
            <a:r>
              <a:rPr spc="-60" dirty="0"/>
              <a:t> </a:t>
            </a:r>
            <a:r>
              <a:rPr dirty="0"/>
              <a:t>material</a:t>
            </a:r>
            <a:r>
              <a:rPr spc="-55" dirty="0"/>
              <a:t> </a:t>
            </a:r>
            <a:r>
              <a:rPr dirty="0"/>
              <a:t>of</a:t>
            </a:r>
            <a:r>
              <a:rPr spc="-60" dirty="0"/>
              <a:t> </a:t>
            </a:r>
            <a:r>
              <a:rPr spc="-25" dirty="0"/>
              <a:t>SILVER</a:t>
            </a:r>
            <a:r>
              <a:rPr spc="-55" dirty="0"/>
              <a:t> </a:t>
            </a:r>
            <a:r>
              <a:rPr dirty="0"/>
              <a:t>OAK</a:t>
            </a:r>
            <a:r>
              <a:rPr spc="-60" dirty="0"/>
              <a:t> </a:t>
            </a:r>
            <a:r>
              <a:rPr spc="-10" dirty="0"/>
              <a:t>UNIVERSITY</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20" dirty="0"/>
              <a:t>10-09-2025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
        <p:nvSpPr>
          <p:cNvPr id="3" name="object 3"/>
          <p:cNvSpPr txBox="1"/>
          <p:nvPr/>
        </p:nvSpPr>
        <p:spPr>
          <a:xfrm>
            <a:off x="705687" y="1609345"/>
            <a:ext cx="10542270" cy="2028761"/>
          </a:xfrm>
          <a:prstGeom prst="rect">
            <a:avLst/>
          </a:prstGeom>
        </p:spPr>
        <p:txBody>
          <a:bodyPr vert="horz" wrap="square" lIns="0" tIns="12700" rIns="0" bIns="0" rtlCol="0" anchor="t">
            <a:spAutoFit/>
          </a:bodyPr>
          <a:lstStyle/>
          <a:p>
            <a:pPr algn="just">
              <a:spcBef>
                <a:spcPts val="100"/>
              </a:spcBef>
              <a:buChar char="•"/>
              <a:tabLst>
                <a:tab pos="332105" algn="l"/>
              </a:tabLst>
            </a:pPr>
            <a:r>
              <a:rPr lang="en-US" spc="-20"/>
              <a:t>Ian Goodfellow, Yoshua Bengio, and Aaron Courville, </a:t>
            </a:r>
            <a:r>
              <a:rPr lang="en-US" i="1" spc="-20"/>
              <a:t>Deep Learning</a:t>
            </a:r>
            <a:r>
              <a:rPr lang="en-US" spc="-20"/>
              <a:t>, MIT Press. </a:t>
            </a:r>
            <a:endParaRPr lang="en-US">
              <a:latin typeface="Cambria"/>
            </a:endParaRPr>
          </a:p>
          <a:p>
            <a:pPr algn="just">
              <a:spcBef>
                <a:spcPts val="100"/>
              </a:spcBef>
              <a:buChar char="•"/>
              <a:tabLst>
                <a:tab pos="332105" algn="l"/>
              </a:tabLst>
            </a:pPr>
            <a:r>
              <a:rPr lang="en-US" spc="-20"/>
              <a:t>Stuart Russell and Peter Norvig, </a:t>
            </a:r>
            <a:r>
              <a:rPr lang="en-US" i="1" spc="-20"/>
              <a:t>Artificial Intelligence: A Modern Approach</a:t>
            </a:r>
            <a:r>
              <a:rPr lang="en-US" spc="-20"/>
              <a:t>, Pearson. </a:t>
            </a:r>
            <a:endParaRPr lang="en-US"/>
          </a:p>
          <a:p>
            <a:pPr algn="just">
              <a:spcBef>
                <a:spcPts val="100"/>
              </a:spcBef>
              <a:buChar char="•"/>
              <a:tabLst>
                <a:tab pos="332105" algn="l"/>
              </a:tabLst>
            </a:pPr>
            <a:r>
              <a:rPr lang="en-US" spc="-20"/>
              <a:t>PHP Official Documentation – </a:t>
            </a:r>
            <a:r>
              <a:rPr lang="en-US" spc="-20" dirty="0">
                <a:hlinkClick r:id="rId2"/>
              </a:rPr>
              <a:t>https://www.php.net</a:t>
            </a:r>
            <a:r>
              <a:rPr lang="en-US" spc="-20" dirty="0"/>
              <a:t> </a:t>
            </a:r>
            <a:endParaRPr lang="en-US" dirty="0"/>
          </a:p>
          <a:p>
            <a:pPr algn="just">
              <a:spcBef>
                <a:spcPts val="100"/>
              </a:spcBef>
              <a:buChar char="•"/>
              <a:tabLst>
                <a:tab pos="332105" algn="l"/>
              </a:tabLst>
            </a:pPr>
            <a:r>
              <a:rPr lang="en-US" spc="-20"/>
              <a:t>MySQL Official Documentation – </a:t>
            </a:r>
            <a:r>
              <a:rPr lang="en-US" spc="-20" dirty="0">
                <a:hlinkClick r:id="rId3"/>
              </a:rPr>
              <a:t>https://dev.mysql.com/doc</a:t>
            </a:r>
            <a:r>
              <a:rPr lang="en-US" spc="-20" dirty="0"/>
              <a:t> </a:t>
            </a:r>
            <a:endParaRPr lang="en-US" dirty="0"/>
          </a:p>
          <a:p>
            <a:pPr algn="just">
              <a:spcBef>
                <a:spcPts val="100"/>
              </a:spcBef>
              <a:buChar char="•"/>
              <a:tabLst>
                <a:tab pos="332105" algn="l"/>
              </a:tabLst>
            </a:pPr>
            <a:r>
              <a:rPr lang="en-US" spc="-20"/>
              <a:t>Google Maps Platform Documentation – </a:t>
            </a:r>
            <a:r>
              <a:rPr lang="en-US" spc="-20" dirty="0">
                <a:hlinkClick r:id="rId4"/>
              </a:rPr>
              <a:t>https://developers.google.com/maps</a:t>
            </a:r>
            <a:r>
              <a:rPr lang="en-US" spc="-20" dirty="0"/>
              <a:t> </a:t>
            </a:r>
            <a:endParaRPr lang="en-US" dirty="0"/>
          </a:p>
          <a:p>
            <a:pPr algn="just">
              <a:spcBef>
                <a:spcPts val="100"/>
              </a:spcBef>
              <a:buChar char="•"/>
              <a:tabLst>
                <a:tab pos="332105" algn="l"/>
              </a:tabLst>
            </a:pPr>
            <a:r>
              <a:rPr lang="en-US" spc="-20"/>
              <a:t>Google Gemini API Documentation – </a:t>
            </a:r>
            <a:r>
              <a:rPr lang="en-US" spc="-20" dirty="0">
                <a:hlinkClick r:id="rId5"/>
              </a:rPr>
              <a:t>https://ai.google.dev</a:t>
            </a:r>
            <a:endParaRPr lang="en-US"/>
          </a:p>
          <a:p>
            <a:pPr marL="330200" marR="5080" indent="-318135" algn="just">
              <a:lnSpc>
                <a:spcPct val="100000"/>
              </a:lnSpc>
              <a:spcBef>
                <a:spcPts val="100"/>
              </a:spcBef>
              <a:buChar char="•"/>
              <a:tabLst>
                <a:tab pos="332105" algn="l"/>
              </a:tabLst>
            </a:pPr>
            <a:endParaRPr spc="-20" dirty="0">
              <a:latin typeface="Cambria"/>
              <a:cs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Index</vt:lpstr>
      <vt:lpstr>Introduction</vt:lpstr>
      <vt:lpstr>Background and Motivation</vt:lpstr>
      <vt:lpstr>Relevance and Importance</vt:lpstr>
      <vt:lpstr>Literature Review</vt:lpstr>
      <vt:lpstr>Objectives</vt:lpstr>
      <vt:lpstr>Required Tools and Technology</vt:lpstr>
      <vt:lpstr>Method/ Approach</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1010103494-Major Project_1010043493-Advanced Programming with Project-I Review 1 W26 (1).pptx</dc:title>
  <cp:revision>128</cp:revision>
  <dcterms:created xsi:type="dcterms:W3CDTF">2026-08-07T05:06:13Z</dcterms:created>
  <dcterms:modified xsi:type="dcterms:W3CDTF">2026-08-07T15:12:39Z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2026-08-07T00:00:00Z</vt:filetime>
  </property>
  <property fmtid="{D5CDD505-2E9C-101B-9397-08002B2CF9AE}" pid="4" name="Creator">
    <vt:lpwstr>Google</vt:lpwstr>
  </property>
  <property fmtid="{D5CDD505-2E9C-101B-9397-08002B2CF9AE}" pid="5" name="LastSaved">
    <vt:filetime>2026-08-07T00:00:00Z</vt:filetime>
  </property>
</Properties>
</file>